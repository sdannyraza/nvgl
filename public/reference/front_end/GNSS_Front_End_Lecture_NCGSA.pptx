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c30fa06eb54ea2" /><Relationship Type="http://schemas.openxmlformats.org/officeDocument/2006/relationships/extended-properties" Target="/docProps/app.xml" Id="R5d2bde4112ba4469" /><Relationship Type="http://schemas.openxmlformats.org/officeDocument/2006/relationships/officeDocument" Target="/ppt/presentation.xml" Id="R2bdade47138740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5b95630ea143d6"/>
  </p:sldMasterIdLst>
  <p:notesMasterIdLst>
    <p:notesMasterId xmlns:r="http://schemas.openxmlformats.org/officeDocument/2006/relationships" r:id="Rf979eece7cea420f"/>
  </p:notesMasterIdLst>
  <p:sldIdLst>
    <p:sldId xmlns:r="http://schemas.openxmlformats.org/officeDocument/2006/relationships" id="256" r:id="Rcadfd2281ec84309"/>
    <p:sldId xmlns:r="http://schemas.openxmlformats.org/officeDocument/2006/relationships" id="257" r:id="R96c9315415404be5"/>
    <p:sldId xmlns:r="http://schemas.openxmlformats.org/officeDocument/2006/relationships" id="258" r:id="R36815594ae2241a9"/>
    <p:sldId xmlns:r="http://schemas.openxmlformats.org/officeDocument/2006/relationships" id="259" r:id="Ra83cb4c4fc234f3a"/>
    <p:sldId xmlns:r="http://schemas.openxmlformats.org/officeDocument/2006/relationships" id="260" r:id="R87aada15efaa46ef"/>
    <p:sldId xmlns:r="http://schemas.openxmlformats.org/officeDocument/2006/relationships" id="261" r:id="R7764e3e9896d49e8"/>
    <p:sldId xmlns:r="http://schemas.openxmlformats.org/officeDocument/2006/relationships" id="262" r:id="Rffa89f3be9d044b6"/>
    <p:sldId xmlns:r="http://schemas.openxmlformats.org/officeDocument/2006/relationships" id="263" r:id="R516f2cce582f4555"/>
    <p:sldId xmlns:r="http://schemas.openxmlformats.org/officeDocument/2006/relationships" id="264" r:id="R847c8d5bfb5249e0"/>
    <p:sldId xmlns:r="http://schemas.openxmlformats.org/officeDocument/2006/relationships" id="265" r:id="R835096a56c254304"/>
    <p:sldId xmlns:r="http://schemas.openxmlformats.org/officeDocument/2006/relationships" id="266" r:id="R8abe001738954c4b"/>
    <p:sldId xmlns:r="http://schemas.openxmlformats.org/officeDocument/2006/relationships" id="267" r:id="R7210491392504e7c"/>
    <p:sldId xmlns:r="http://schemas.openxmlformats.org/officeDocument/2006/relationships" id="268" r:id="R99c2de9528464106"/>
    <p:sldId xmlns:r="http://schemas.openxmlformats.org/officeDocument/2006/relationships" id="269" r:id="R5d53f35e71c54f25"/>
    <p:sldId xmlns:r="http://schemas.openxmlformats.org/officeDocument/2006/relationships" id="270" r:id="R34f31de6bb6143ac"/>
    <p:sldId xmlns:r="http://schemas.openxmlformats.org/officeDocument/2006/relationships" id="271" r:id="R4d3561f2c9d04097"/>
    <p:sldId xmlns:r="http://schemas.openxmlformats.org/officeDocument/2006/relationships" id="272" r:id="R6772eeed697a4f70"/>
    <p:sldId xmlns:r="http://schemas.openxmlformats.org/officeDocument/2006/relationships" id="273" r:id="R7bde46886d5a4fc3"/>
    <p:sldId xmlns:r="http://schemas.openxmlformats.org/officeDocument/2006/relationships" id="274" r:id="R96621a0c92d74ef5"/>
    <p:sldId xmlns:r="http://schemas.openxmlformats.org/officeDocument/2006/relationships" id="275" r:id="Rab5f2504f16c4190"/>
    <p:sldId xmlns:r="http://schemas.openxmlformats.org/officeDocument/2006/relationships" id="276" r:id="R49804e16d68e4561"/>
    <p:sldId xmlns:r="http://schemas.openxmlformats.org/officeDocument/2006/relationships" id="277" r:id="R69bf7d2a6f544a8d"/>
    <p:sldId xmlns:r="http://schemas.openxmlformats.org/officeDocument/2006/relationships" id="278" r:id="Rac5c6baf6be14c2b"/>
    <p:sldId xmlns:r="http://schemas.openxmlformats.org/officeDocument/2006/relationships" id="279" r:id="Rf2f20d18e1e5483e"/>
    <p:sldId xmlns:r="http://schemas.openxmlformats.org/officeDocument/2006/relationships" id="280" r:id="R4126cb8f55074fe1"/>
    <p:sldId xmlns:r="http://schemas.openxmlformats.org/officeDocument/2006/relationships" id="281" r:id="R7a708e86ac9b4747"/>
    <p:sldId xmlns:r="http://schemas.openxmlformats.org/officeDocument/2006/relationships" id="282" r:id="Rbee6a4855f1c4f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d30c54086b4b11" /><Relationship Type="http://schemas.openxmlformats.org/officeDocument/2006/relationships/slideMaster" Target="/ppt/slideMasters/slideMaster1.xml" Id="R6b5b95630ea143d6" /><Relationship Type="http://schemas.openxmlformats.org/officeDocument/2006/relationships/notesMaster" Target="/ppt/notesMasters/notesMaster1.xml" Id="Rf979eece7cea420f" /><Relationship Type="http://schemas.openxmlformats.org/officeDocument/2006/relationships/presProps" Target="/ppt/presProps.xml" Id="Rd8a1a8c0e5ce4d8c" /><Relationship Type="http://schemas.openxmlformats.org/officeDocument/2006/relationships/tableStyles" Target="/ppt/tableStyles.xml" Id="R2c8a8f9148f04abe" /><Relationship Type="http://schemas.openxmlformats.org/officeDocument/2006/relationships/slide" Target="/ppt/slides/slide1.xml" Id="Rcadfd2281ec84309" /><Relationship Type="http://schemas.openxmlformats.org/officeDocument/2006/relationships/slide" Target="/ppt/slides/slide2.xml" Id="R96c9315415404be5" /><Relationship Type="http://schemas.openxmlformats.org/officeDocument/2006/relationships/slide" Target="/ppt/slides/slide3.xml" Id="R36815594ae2241a9" /><Relationship Type="http://schemas.openxmlformats.org/officeDocument/2006/relationships/slide" Target="/ppt/slides/slide4.xml" Id="Ra83cb4c4fc234f3a" /><Relationship Type="http://schemas.openxmlformats.org/officeDocument/2006/relationships/slide" Target="/ppt/slides/slide5.xml" Id="R87aada15efaa46ef" /><Relationship Type="http://schemas.openxmlformats.org/officeDocument/2006/relationships/slide" Target="/ppt/slides/slide6.xml" Id="R7764e3e9896d49e8" /><Relationship Type="http://schemas.openxmlformats.org/officeDocument/2006/relationships/slide" Target="/ppt/slides/slide7.xml" Id="Rffa89f3be9d044b6" /><Relationship Type="http://schemas.openxmlformats.org/officeDocument/2006/relationships/slide" Target="/ppt/slides/slide8.xml" Id="R516f2cce582f4555" /><Relationship Type="http://schemas.openxmlformats.org/officeDocument/2006/relationships/slide" Target="/ppt/slides/slide9.xml" Id="R847c8d5bfb5249e0" /><Relationship Type="http://schemas.openxmlformats.org/officeDocument/2006/relationships/slide" Target="/ppt/slides/slide10.xml" Id="R835096a56c254304" /><Relationship Type="http://schemas.openxmlformats.org/officeDocument/2006/relationships/slide" Target="/ppt/slides/slide11.xml" Id="R8abe001738954c4b" /><Relationship Type="http://schemas.openxmlformats.org/officeDocument/2006/relationships/slide" Target="/ppt/slides/slide12.xml" Id="R7210491392504e7c" /><Relationship Type="http://schemas.openxmlformats.org/officeDocument/2006/relationships/slide" Target="/ppt/slides/slide13.xml" Id="R99c2de9528464106" /><Relationship Type="http://schemas.openxmlformats.org/officeDocument/2006/relationships/slide" Target="/ppt/slides/slide14.xml" Id="R5d53f35e71c54f25" /><Relationship Type="http://schemas.openxmlformats.org/officeDocument/2006/relationships/slide" Target="/ppt/slides/slide15.xml" Id="R34f31de6bb6143ac" /><Relationship Type="http://schemas.openxmlformats.org/officeDocument/2006/relationships/slide" Target="/ppt/slides/slide16.xml" Id="R4d3561f2c9d04097" /><Relationship Type="http://schemas.openxmlformats.org/officeDocument/2006/relationships/slide" Target="/ppt/slides/slide17.xml" Id="R6772eeed697a4f70" /><Relationship Type="http://schemas.openxmlformats.org/officeDocument/2006/relationships/slide" Target="/ppt/slides/slide18.xml" Id="R7bde46886d5a4fc3" /><Relationship Type="http://schemas.openxmlformats.org/officeDocument/2006/relationships/slide" Target="/ppt/slides/slide19.xml" Id="R96621a0c92d74ef5" /><Relationship Type="http://schemas.openxmlformats.org/officeDocument/2006/relationships/slide" Target="/ppt/slides/slide20.xml" Id="Rab5f2504f16c4190" /><Relationship Type="http://schemas.openxmlformats.org/officeDocument/2006/relationships/slide" Target="/ppt/slides/slide21.xml" Id="R49804e16d68e4561" /><Relationship Type="http://schemas.openxmlformats.org/officeDocument/2006/relationships/slide" Target="/ppt/slides/slide22.xml" Id="R69bf7d2a6f544a8d" /><Relationship Type="http://schemas.openxmlformats.org/officeDocument/2006/relationships/slide" Target="/ppt/slides/slide23.xml" Id="Rac5c6baf6be14c2b" /><Relationship Type="http://schemas.openxmlformats.org/officeDocument/2006/relationships/slide" Target="/ppt/slides/slide24.xml" Id="Rf2f20d18e1e5483e" /><Relationship Type="http://schemas.openxmlformats.org/officeDocument/2006/relationships/slide" Target="/ppt/slides/slide25.xml" Id="R4126cb8f55074fe1" /><Relationship Type="http://schemas.openxmlformats.org/officeDocument/2006/relationships/slide" Target="/ppt/slides/slide26.xml" Id="R7a708e86ac9b4747" /><Relationship Type="http://schemas.openxmlformats.org/officeDocument/2006/relationships/slide" Target="/ppt/slides/slide27.xml" Id="Rbee6a4855f1c4f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f0d170fead4f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03f079572b475c" /><Relationship Type="http://schemas.openxmlformats.org/officeDocument/2006/relationships/notesMaster" Target="/ppt/notesMasters/notesMaster1.xml" Id="R385fd946ea3843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0d110f186e40ac" /><Relationship Type="http://schemas.openxmlformats.org/officeDocument/2006/relationships/notesMaster" Target="/ppt/notesMasters/notesMaster1.xml" Id="Ree08ec3e729e49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4b928947d04959" /><Relationship Type="http://schemas.openxmlformats.org/officeDocument/2006/relationships/notesMaster" Target="/ppt/notesMasters/notesMaster1.xml" Id="Rff3316f535ae40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5dd56cdb604720" /><Relationship Type="http://schemas.openxmlformats.org/officeDocument/2006/relationships/notesMaster" Target="/ppt/notesMasters/notesMaster1.xml" Id="Raf9dd42d719645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c8236f76c94c07" /><Relationship Type="http://schemas.openxmlformats.org/officeDocument/2006/relationships/notesMaster" Target="/ppt/notesMasters/notesMaster1.xml" Id="R7b6155215c9045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7c0bdb8156444f" /><Relationship Type="http://schemas.openxmlformats.org/officeDocument/2006/relationships/notesMaster" Target="/ppt/notesMasters/notesMaster1.xml" Id="Rd1dafed856a54a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00a6e1494c4258" /><Relationship Type="http://schemas.openxmlformats.org/officeDocument/2006/relationships/notesMaster" Target="/ppt/notesMasters/notesMaster1.xml" Id="R41772ffa093d42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599fbd49994f6f" /><Relationship Type="http://schemas.openxmlformats.org/officeDocument/2006/relationships/notesMaster" Target="/ppt/notesMasters/notesMaster1.xml" Id="Rced367cc6ece41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f687ec387c4189" /><Relationship Type="http://schemas.openxmlformats.org/officeDocument/2006/relationships/notesMaster" Target="/ppt/notesMasters/notesMaster1.xml" Id="R623f79d9210843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0b2048bdac4a47" /><Relationship Type="http://schemas.openxmlformats.org/officeDocument/2006/relationships/notesMaster" Target="/ppt/notesMasters/notesMaster1.xml" Id="R82addf115cb443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25c4018722452d" /><Relationship Type="http://schemas.openxmlformats.org/officeDocument/2006/relationships/notesMaster" Target="/ppt/notesMasters/notesMaster1.xml" Id="Rbc385b256dd343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1a4a329cd74d3d" /><Relationship Type="http://schemas.openxmlformats.org/officeDocument/2006/relationships/notesMaster" Target="/ppt/notesMasters/notesMaster1.xml" Id="Re010521ab27f42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44e9659bd6e4cdf" /><Relationship Type="http://schemas.openxmlformats.org/officeDocument/2006/relationships/notesMaster" Target="/ppt/notesMasters/notesMaster1.xml" Id="R12320e125be649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dbc7b469b54e89" /><Relationship Type="http://schemas.openxmlformats.org/officeDocument/2006/relationships/notesMaster" Target="/ppt/notesMasters/notesMaster1.xml" Id="R920813f2a8d3492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ef73bbb322a4f1e" /><Relationship Type="http://schemas.openxmlformats.org/officeDocument/2006/relationships/notesMaster" Target="/ppt/notesMasters/notesMaster1.xml" Id="Rf26a8b10d8af4fd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f63bcf7023a4a90" /><Relationship Type="http://schemas.openxmlformats.org/officeDocument/2006/relationships/notesMaster" Target="/ppt/notesMasters/notesMaster1.xml" Id="Rb571f67d263843b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d7bb1204112485b" /><Relationship Type="http://schemas.openxmlformats.org/officeDocument/2006/relationships/notesMaster" Target="/ppt/notesMasters/notesMaster1.xml" Id="R8ca01a306c6c4f6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793185f807843b3" /><Relationship Type="http://schemas.openxmlformats.org/officeDocument/2006/relationships/notesMaster" Target="/ppt/notesMasters/notesMaster1.xml" Id="R224001a11e0f4c9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b8abbc890fd49d0" /><Relationship Type="http://schemas.openxmlformats.org/officeDocument/2006/relationships/notesMaster" Target="/ppt/notesMasters/notesMaster1.xml" Id="Red4dcdd5912d468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8015777d25b49ce" /><Relationship Type="http://schemas.openxmlformats.org/officeDocument/2006/relationships/notesMaster" Target="/ppt/notesMasters/notesMaster1.xml" Id="R8629c6069c3f449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94940a200c84cb9" /><Relationship Type="http://schemas.openxmlformats.org/officeDocument/2006/relationships/notesMaster" Target="/ppt/notesMasters/notesMaster1.xml" Id="R6385a55c8215423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d863f7a18884068" /><Relationship Type="http://schemas.openxmlformats.org/officeDocument/2006/relationships/notesMaster" Target="/ppt/notesMasters/notesMaster1.xml" Id="R31a3afc393f74c9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1cffc5a7cb1408c" /><Relationship Type="http://schemas.openxmlformats.org/officeDocument/2006/relationships/notesMaster" Target="/ppt/notesMasters/notesMaster1.xml" Id="R4102af32019a4b1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6bb35fe0b9a4b66" /><Relationship Type="http://schemas.openxmlformats.org/officeDocument/2006/relationships/notesMaster" Target="/ppt/notesMasters/notesMaster1.xml" Id="R6fb13a11774a49d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06a339dd8ce4a87" /><Relationship Type="http://schemas.openxmlformats.org/officeDocument/2006/relationships/notesMaster" Target="/ppt/notesMasters/notesMaster1.xml" Id="Rab37cb18bed24b5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6b7733621524cc2" /><Relationship Type="http://schemas.openxmlformats.org/officeDocument/2006/relationships/notesMaster" Target="/ppt/notesMasters/notesMaster1.xml" Id="R4af9e6b225b04df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95c3d823be84526" /><Relationship Type="http://schemas.openxmlformats.org/officeDocument/2006/relationships/notesMaster" Target="/ppt/notesMasters/notesMaster1.xml" Id="R6997f4f6677041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the live dashboard at https://nvgl.ncgsa.org.pk/front-end/. The lecture follows its nine lessons. The receiver values are an illustrative GPS L1 front-end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Dashboard: https://nvgl.ncgsa.org.pk/front-end/</a:t>
            </a:r>
          </a:p>
          <a:p xmlns:a="http://schemas.openxmlformats.org/drawingml/2006/main">
            <a:r>
              <a:t>Illustrative values and receiver architecture follow the NCGSA Virtual GNSS Laboratory Front End lessons. GNSS front-end hardware varies by receiver design.</a:t>
            </a:r>
          </a:p>
          <a:p xmlns:a="http://schemas.openxmlformats.org/drawingml/2006/main">
            <a:br/>
            <a:r>
              <a:t>Source: NCGSA Virtual GNSS Laboratory — GNSS Front End (https://nvgl.ncgsa.org.pk/front-end/).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Dashboard: https://nvgl.ncgsa.org.pk/front-end/</a:t>
            </a:r>
          </a:p>
          <a:p xmlns:a="http://schemas.openxmlformats.org/drawingml/2006/main">
            <a:r>
              <a:t>Illustrative values and receiver architecture follow the NCGSA Virtual GNSS Laboratory Front End lessons. GNSS front-end hardware varies by receiver design.</a:t>
            </a:r>
          </a:p>
          <a:p xmlns:a="http://schemas.openxmlformats.org/drawingml/2006/main">
            <a:br/>
            <a:r>
              <a:t>Source: NCGSA Virtual GNSS Laboratory — GNSS Front End (https://nvgl.ncgsa.org.pk/front-end/).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Dashboard: https://nvgl.ncgsa.org.pk/front-end/</a:t>
            </a:r>
          </a:p>
          <a:p xmlns:a="http://schemas.openxmlformats.org/drawingml/2006/main">
            <a:r>
              <a:t>Illustrative values and receiver architecture follow the NCGSA Virtual GNSS Laboratory Front End lessons. GNSS front-end hardware varies by receiver design.</a:t>
            </a:r>
          </a:p>
          <a:p xmlns:a="http://schemas.openxmlformats.org/drawingml/2006/main">
            <a:br/>
            <a:r>
              <a:t>Source: NCGSA Virtual GNSS Laboratory — GNSS Front End (https://nvgl.ncgsa.org.pk/front-end/).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Dashboard: https://nvgl.ncgsa.org.pk/front-end/</a:t>
            </a:r>
          </a:p>
          <a:p xmlns:a="http://schemas.openxmlformats.org/drawingml/2006/main">
            <a:r>
              <a:t>Illustrative values and receiver architecture follow the NCGSA Virtual GNSS Laboratory Front End lessons. GNSS front-end hardware varies by receiver design.</a:t>
            </a:r>
          </a:p>
          <a:p xmlns:a="http://schemas.openxmlformats.org/drawingml/2006/main">
            <a:br/>
            <a:r>
              <a:t>Source: NCGSA Virtual GNSS Laboratory — GNSS Front End (https://nvgl.ncgsa.org.pk/front-end/).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Dashboard: https://nvgl.ncgsa.org.pk/front-end/</a:t>
            </a:r>
          </a:p>
          <a:p xmlns:a="http://schemas.openxmlformats.org/drawingml/2006/main">
            <a:r>
              <a:t>Illustrative values and receiver architecture follow the NCGSA Virtual GNSS Laboratory Front End lessons. GNSS front-end hardware varies by receiver design.</a:t>
            </a:r>
          </a:p>
          <a:p xmlns:a="http://schemas.openxmlformats.org/drawingml/2006/main">
            <a:br/>
            <a:r>
              <a:t>Source: NCGSA Virtual GNSS Laboratory — GNSS Front End (https://nvgl.ncgsa.org.pk/front-end/).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Dashboard: https://nvgl.ncgsa.org.pk/front-end/</a:t>
            </a:r>
          </a:p>
          <a:p xmlns:a="http://schemas.openxmlformats.org/drawingml/2006/main">
            <a:r>
              <a:t>Illustrative values and receiver architecture follow the NCGSA Virtual GNSS Laboratory Front End lessons. GNSS front-end hardware varies by receiver design.</a:t>
            </a:r>
          </a:p>
          <a:p xmlns:a="http://schemas.openxmlformats.org/drawingml/2006/main">
            <a:br/>
            <a:r>
              <a:t>Source: NCGSA Virtual GNSS Laboratory — GNSS Front End (https://nvgl.ncgsa.org.pk/front-end/).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Dashboard: https://nvgl.ncgsa.org.pk/front-end/</a:t>
            </a:r>
          </a:p>
          <a:p xmlns:a="http://schemas.openxmlformats.org/drawingml/2006/main">
            <a:r>
              <a:t>Illustrative values and receiver architecture follow the NCGSA Virtual GNSS Laboratory Front End lessons. GNSS front-end hardware varies by receiver design.</a:t>
            </a:r>
          </a:p>
          <a:p xmlns:a="http://schemas.openxmlformats.org/drawingml/2006/main">
            <a:br/>
            <a:r>
              <a:t>Source: NCGSA Virtual GNSS Laboratory — GNSS Front End (https://nvgl.ncgsa.org.pk/front-end/).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Dashboard: https://nvgl.ncgsa.org.pk/front-end/</a:t>
            </a:r>
          </a:p>
          <a:p xmlns:a="http://schemas.openxmlformats.org/drawingml/2006/main">
            <a:r>
              <a:t>Illustrative values and receiver architecture follow the NCGSA Virtual GNSS Laboratory Front End lessons. GNSS front-end hardware varies by receiver design.</a:t>
            </a:r>
          </a:p>
          <a:p xmlns:a="http://schemas.openxmlformats.org/drawingml/2006/main">
            <a:br/>
            <a:r>
              <a:t>Source: NCGSA Virtual GNSS Laboratory — GNSS Front End (https://nvgl.ncgsa.org.pk/front-end/).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Dashboard: https://nvgl.ncgsa.org.pk/front-end/</a:t>
            </a:r>
          </a:p>
          <a:p xmlns:a="http://schemas.openxmlformats.org/drawingml/2006/main">
            <a:r>
              <a:t>Illustrative values and receiver architecture follow the NCGSA Virtual GNSS Laboratory Front End lessons. GNSS front-end hardware varies by receiver design.</a:t>
            </a:r>
          </a:p>
          <a:p xmlns:a="http://schemas.openxmlformats.org/drawingml/2006/main">
            <a:br/>
            <a:r>
              <a:t>Source: NCGSA Virtual GNSS Laboratory — GNSS Front End (https://nvgl.ncgsa.org.pk/front-end/).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Dashboard: https://nvgl.ncgsa.org.pk/front-end/</a:t>
            </a:r>
          </a:p>
          <a:p xmlns:a="http://schemas.openxmlformats.org/drawingml/2006/main">
            <a:r>
              <a:t>Illustrative values and receiver architecture follow the NCGSA Virtual GNSS Laboratory Front End lessons. GNSS front-end hardware varies by receiver design.</a:t>
            </a:r>
          </a:p>
          <a:p xmlns:a="http://schemas.openxmlformats.org/drawingml/2006/main">
            <a:br/>
            <a:r>
              <a:t>Source: NCGSA Virtual GNSS Laboratory — GNSS Front End (https://nvgl.ncgsa.org.pk/front-end/).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Dashboard: https://nvgl.ncgsa.org.pk/front-end/</a:t>
            </a:r>
          </a:p>
          <a:p xmlns:a="http://schemas.openxmlformats.org/drawingml/2006/main">
            <a:r>
              <a:t>Illustrative values and receiver architecture follow the NCGSA Virtual GNSS Laboratory Front End lessons. GNSS front-end hardware varies by receiver design.</a:t>
            </a:r>
          </a:p>
          <a:p xmlns:a="http://schemas.openxmlformats.org/drawingml/2006/main">
            <a:br/>
            <a:r>
              <a:t>Source: NCGSA Virtual GNSS Laboratory — GNSS Front End (https://nvgl.ncgsa.org.pk/front-end/).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Dashboard: https://nvgl.ncgsa.org.pk/front-end/</a:t>
            </a:r>
          </a:p>
          <a:p xmlns:a="http://schemas.openxmlformats.org/drawingml/2006/main">
            <a:r>
              <a:t>Illustrative values and receiver architecture follow the NCGSA Virtual GNSS Laboratory Front End lessons. GNSS front-end hardware varies by receiver design.</a:t>
            </a:r>
          </a:p>
          <a:p xmlns:a="http://schemas.openxmlformats.org/drawingml/2006/main">
            <a:br/>
            <a:r>
              <a:t>Source: NCGSA Virtual GNSS Laboratory — GNSS Front End (https://nvgl.ncgsa.org.pk/front-end/).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Dashboard: https://nvgl.ncgsa.org.pk/front-end/</a:t>
            </a:r>
          </a:p>
          <a:p xmlns:a="http://schemas.openxmlformats.org/drawingml/2006/main">
            <a:r>
              <a:t>Illustrative values and receiver architecture follow the NCGSA Virtual GNSS Laboratory Front End lessons. GNSS front-end hardware varies by receiver design.</a:t>
            </a:r>
          </a:p>
          <a:p xmlns:a="http://schemas.openxmlformats.org/drawingml/2006/main">
            <a:br/>
            <a:r>
              <a:t>Source: NCGSA Virtual GNSS Laboratory — GNSS Front End (https://nvgl.ncgsa.org.pk/front-end/).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Dashboard: https://nvgl.ncgsa.org.pk/front-end/</a:t>
            </a:r>
          </a:p>
          <a:p xmlns:a="http://schemas.openxmlformats.org/drawingml/2006/main">
            <a:r>
              <a:t>Illustrative values and receiver architecture follow the NCGSA Virtual GNSS Laboratory Front End lessons. GNSS front-end hardware varies by receiver design.</a:t>
            </a:r>
          </a:p>
          <a:p xmlns:a="http://schemas.openxmlformats.org/drawingml/2006/main">
            <a:br/>
            <a:r>
              <a:t>Source: NCGSA Virtual GNSS Laboratory — GNSS Front End (https://nvgl.ncgsa.org.pk/front-end/).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Dashboard: https://nvgl.ncgsa.org.pk/front-end/</a:t>
            </a:r>
          </a:p>
          <a:p xmlns:a="http://schemas.openxmlformats.org/drawingml/2006/main">
            <a:r>
              <a:t>Illustrative values and receiver architecture follow the NCGSA Virtual GNSS Laboratory Front End lessons. GNSS front-end hardware varies by receiver design.</a:t>
            </a:r>
          </a:p>
          <a:p xmlns:a="http://schemas.openxmlformats.org/drawingml/2006/main">
            <a:br/>
            <a:r>
              <a:t>Source: NCGSA Virtual GNSS Laboratory — GNSS Front End (https://nvgl.ncgsa.org.pk/front-end/).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Dashboard: https://nvgl.ncgsa.org.pk/front-end/</a:t>
            </a:r>
          </a:p>
          <a:p xmlns:a="http://schemas.openxmlformats.org/drawingml/2006/main">
            <a:r>
              <a:t>Illustrative values and receiver architecture follow the NCGSA Virtual GNSS Laboratory Front End lessons. GNSS front-end hardware varies by receiver design.</a:t>
            </a:r>
          </a:p>
          <a:p xmlns:a="http://schemas.openxmlformats.org/drawingml/2006/main">
            <a:br/>
            <a:r>
              <a:t>Source: NCGSA Virtual GNSS Laboratory — GNSS Front End (https://nvgl.ncgsa.org.pk/front-end/).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Dashboard: https://nvgl.ncgsa.org.pk/front-end/</a:t>
            </a:r>
          </a:p>
          <a:p xmlns:a="http://schemas.openxmlformats.org/drawingml/2006/main">
            <a:r>
              <a:t>Illustrative values and receiver architecture follow the NCGSA Virtual GNSS Laboratory Front End lessons. GNSS front-end hardware varies by receiver design.</a:t>
            </a:r>
          </a:p>
          <a:p xmlns:a="http://schemas.openxmlformats.org/drawingml/2006/main">
            <a:br/>
            <a:r>
              <a:t>Source: NCGSA Virtual GNSS Laboratory — GNSS Front End (https://nvgl.ncgsa.org.pk/front-end/).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Dashboard: https://nvgl.ncgsa.org.pk/front-end/</a:t>
            </a:r>
          </a:p>
          <a:p xmlns:a="http://schemas.openxmlformats.org/drawingml/2006/main">
            <a:r>
              <a:t>Illustrative values and receiver architecture follow the NCGSA Virtual GNSS Laboratory Front End lessons. GNSS front-end hardware varies by receiver design.</a:t>
            </a:r>
          </a:p>
          <a:p xmlns:a="http://schemas.openxmlformats.org/drawingml/2006/main">
            <a:br/>
            <a:r>
              <a:t>Source: NCGSA Virtual GNSS Laboratory — GNSS Front End (https://nvgl.ncgsa.org.pk/front-end/).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Dashboard: https://nvgl.ncgsa.org.pk/front-end/</a:t>
            </a:r>
          </a:p>
          <a:p xmlns:a="http://schemas.openxmlformats.org/drawingml/2006/main">
            <a:r>
              <a:t>Illustrative values and receiver architecture follow the NCGSA Virtual GNSS Laboratory Front End lessons. GNSS front-end hardware varies by receiver design.</a:t>
            </a:r>
          </a:p>
          <a:p xmlns:a="http://schemas.openxmlformats.org/drawingml/2006/main">
            <a:br/>
            <a:r>
              <a:t>Source: NCGSA Virtual GNSS Laboratory — GNSS Front End (https://nvgl.ncgsa.org.pk/front-end/).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Dashboard: https://nvgl.ncgsa.org.pk/front-end/</a:t>
            </a:r>
          </a:p>
          <a:p xmlns:a="http://schemas.openxmlformats.org/drawingml/2006/main">
            <a:r>
              <a:t>Illustrative values and receiver architecture follow the NCGSA Virtual GNSS Laboratory Front End lessons. GNSS front-end hardware varies by receiver design.</a:t>
            </a:r>
          </a:p>
          <a:p xmlns:a="http://schemas.openxmlformats.org/drawingml/2006/main">
            <a:br/>
            <a:r>
              <a:t>Source: NCGSA Virtual GNSS Laboratory — GNSS Front End (https://nvgl.ncgsa.org.pk/front-end/).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Dashboard: https://nvgl.ncgsa.org.pk/front-end/</a:t>
            </a:r>
          </a:p>
          <a:p xmlns:a="http://schemas.openxmlformats.org/drawingml/2006/main">
            <a:r>
              <a:t>Illustrative values and receiver architecture follow the NCGSA Virtual GNSS Laboratory Front End lessons. GNSS front-end hardware varies by receiver design.</a:t>
            </a:r>
          </a:p>
          <a:p xmlns:a="http://schemas.openxmlformats.org/drawingml/2006/main">
            <a:br/>
            <a:r>
              <a:t>Source: NCGSA Virtual GNSS Laboratory — GNSS Front End (https://nvgl.ncgsa.org.pk/front-end/).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Dashboard: https://nvgl.ncgsa.org.pk/front-end/</a:t>
            </a:r>
          </a:p>
          <a:p xmlns:a="http://schemas.openxmlformats.org/drawingml/2006/main">
            <a:r>
              <a:t>Illustrative values and receiver architecture follow the NCGSA Virtual GNSS Laboratory Front End lessons. GNSS front-end hardware varies by receiver design.</a:t>
            </a:r>
          </a:p>
          <a:p xmlns:a="http://schemas.openxmlformats.org/drawingml/2006/main">
            <a:br/>
            <a:r>
              <a:t>Source: NCGSA Virtual GNSS Laboratory — GNSS Front End (https://nvgl.ncgsa.org.pk/front-end/).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Dashboard: https://nvgl.ncgsa.org.pk/front-end/</a:t>
            </a:r>
          </a:p>
          <a:p xmlns:a="http://schemas.openxmlformats.org/drawingml/2006/main">
            <a:r>
              <a:t>Illustrative values and receiver architecture follow the NCGSA Virtual GNSS Laboratory Front End lessons. GNSS front-end hardware varies by receiver design.</a:t>
            </a:r>
          </a:p>
          <a:p xmlns:a="http://schemas.openxmlformats.org/drawingml/2006/main">
            <a:br/>
            <a:r>
              <a:t>Source: NCGSA Virtual GNSS Laboratory — GNSS Front End (https://nvgl.ncgsa.org.pk/front-end/).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Dashboard: https://nvgl.ncgsa.org.pk/front-end/</a:t>
            </a:r>
          </a:p>
          <a:p xmlns:a="http://schemas.openxmlformats.org/drawingml/2006/main">
            <a:r>
              <a:t>Illustrative values and receiver architecture follow the NCGSA Virtual GNSS Laboratory Front End lessons. GNSS front-end hardware varies by receiver design.</a:t>
            </a:r>
          </a:p>
          <a:p xmlns:a="http://schemas.openxmlformats.org/drawingml/2006/main">
            <a:br/>
            <a:r>
              <a:t>Source: NCGSA Virtual GNSS Laboratory — GNSS Front End (https://nvgl.ncgsa.org.pk/front-end/).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Dashboard: https://nvgl.ncgsa.org.pk/front-end/</a:t>
            </a:r>
          </a:p>
          <a:p xmlns:a="http://schemas.openxmlformats.org/drawingml/2006/main">
            <a:r>
              <a:t>Illustrative values and receiver architecture follow the NCGSA Virtual GNSS Laboratory Front End lessons. GNSS front-end hardware varies by receiver design.</a:t>
            </a:r>
          </a:p>
          <a:p xmlns:a="http://schemas.openxmlformats.org/drawingml/2006/main">
            <a:br/>
            <a:r>
              <a:t>Source: NCGSA Virtual GNSS Laboratory — GNSS Front End (https://nvgl.ncgsa.org.pk/front-end/).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Dashboard: https://nvgl.ncgsa.org.pk/front-end/</a:t>
            </a:r>
          </a:p>
          <a:p xmlns:a="http://schemas.openxmlformats.org/drawingml/2006/main">
            <a:r>
              <a:t>Illustrative values and receiver architecture follow the NCGSA Virtual GNSS Laboratory Front End lessons. GNSS front-end hardware varies by receiver design.</a:t>
            </a:r>
          </a:p>
          <a:p xmlns:a="http://schemas.openxmlformats.org/drawingml/2006/main">
            <a:r>
              <a:t>Suggested reading on dashboard: GNSS_Front_End.pdf and GPS_Front_End_Lecture.pdf. This lecture is structured on the dashboard and is not a specification of a particular physical receiver.</a:t>
            </a:r>
          </a:p>
          <a:p xmlns:a="http://schemas.openxmlformats.org/drawingml/2006/main">
            <a:br/>
            <a:r>
              <a:t>Source: NCGSA Virtual GNSS Laboratory — GNSS Front End (https://nvgl.ncgsa.org.pk/front-end/).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0876e549364fc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3c7e53eb39424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99a34e40dd47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7a07f61fd74aa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411740297f4b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fd2b6a140548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A32CA8-32C3-4C5C-9DCA-3C086148BC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A157372-FA04-4440-9A70-29BF709323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912C4C3-7811-4531-9EC2-5807E5255B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179619-0CFA-43D9-A00B-1670AA5853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405459-A45B-44B9-92F8-1791E7D634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FF99D8-380E-49FD-B035-4150E78718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154824-D543-4601-8BD3-BC77185E31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906FF03-B811-4262-A752-E5E532FBC4D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D9FF23-832F-4F6D-A10A-CFA3061D86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5AE78A-89C8-4DDC-9157-4E0E355E97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49b0b00f334b2e" /><Relationship Type="http://schemas.openxmlformats.org/officeDocument/2006/relationships/slideLayout" Target="/ppt/slideLayouts/slideLayout1.xml" Id="R23144748fdcc4fa3" /><Relationship Type="http://schemas.openxmlformats.org/officeDocument/2006/relationships/slideLayout" Target="/ppt/slideLayouts/slideLayout2.xml" Id="Rbb564f919ac84f81" /><Relationship Type="http://schemas.openxmlformats.org/officeDocument/2006/relationships/slideLayout" Target="/ppt/slideLayouts/slideLayout3.xml" Id="Rf4c5009454c54056" /><Relationship Type="http://schemas.openxmlformats.org/officeDocument/2006/relationships/slideLayout" Target="/ppt/slideLayouts/slideLayout4.xml" Id="R7f2cd2d26e8446ba" /><Relationship Type="http://schemas.openxmlformats.org/officeDocument/2006/relationships/slideLayout" Target="/ppt/slideLayouts/slideLayout5.xml" Id="R8095edcb2c0243fd" /><Relationship Type="http://schemas.openxmlformats.org/officeDocument/2006/relationships/slideLayout" Target="/ppt/slideLayouts/slideLayout6.xml" Id="R4f419eab666641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144748fdcc4fa3"/>
    <p:sldLayoutId xmlns:r="http://schemas.openxmlformats.org/officeDocument/2006/relationships" id="2147483650" r:id="Rbb564f919ac84f81"/>
    <p:sldLayoutId xmlns:r="http://schemas.openxmlformats.org/officeDocument/2006/relationships" id="2147483651" r:id="Rf4c5009454c54056"/>
    <p:sldLayoutId xmlns:r="http://schemas.openxmlformats.org/officeDocument/2006/relationships" id="2147483652" r:id="R7f2cd2d26e8446ba"/>
    <p:sldLayoutId xmlns:r="http://schemas.openxmlformats.org/officeDocument/2006/relationships" id="2147483653" r:id="R8095edcb2c0243fd"/>
    <p:sldLayoutId xmlns:r="http://schemas.openxmlformats.org/officeDocument/2006/relationships" id="2147483654" r:id="R4f419eab666641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2ebdc0f21c4aa8" /><Relationship Type="http://schemas.openxmlformats.org/officeDocument/2006/relationships/notesSlide" Target="/ppt/notesSlides/notesSlide1.xml" Id="R9a15e0a505ac49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67123cc2244d8d" /><Relationship Type="http://schemas.openxmlformats.org/officeDocument/2006/relationships/notesSlide" Target="/ppt/notesSlides/notesSlide2.xml" Id="Rbacb0727483d49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a028e5e5004b2c" /><Relationship Type="http://schemas.openxmlformats.org/officeDocument/2006/relationships/notesSlide" Target="/ppt/notesSlides/notesSlide3.xml" Id="Re1d5dcc065e04a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9490964015468b" /><Relationship Type="http://schemas.openxmlformats.org/officeDocument/2006/relationships/notesSlide" Target="/ppt/notesSlides/notesSlide4.xml" Id="R629ea85f41e74b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d21ee935c741f6" /><Relationship Type="http://schemas.openxmlformats.org/officeDocument/2006/relationships/notesSlide" Target="/ppt/notesSlides/notesSlide5.xml" Id="R38ddb698e1fa49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e1ef1fe9894845" /><Relationship Type="http://schemas.openxmlformats.org/officeDocument/2006/relationships/notesSlide" Target="/ppt/notesSlides/notesSlide6.xml" Id="Rbed9e829b1c845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02bf7309e846d0" /><Relationship Type="http://schemas.openxmlformats.org/officeDocument/2006/relationships/notesSlide" Target="/ppt/notesSlides/notesSlide7.xml" Id="R8248b425e8824c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7f08e06a4247f3" /><Relationship Type="http://schemas.openxmlformats.org/officeDocument/2006/relationships/notesSlide" Target="/ppt/notesSlides/notesSlide8.xml" Id="R63c2559ebf6f47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bc9030d3da497f" /><Relationship Type="http://schemas.openxmlformats.org/officeDocument/2006/relationships/notesSlide" Target="/ppt/notesSlides/notesSlide9.xml" Id="Re728a2181d8044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f76c9d03474f8c" /><Relationship Type="http://schemas.openxmlformats.org/officeDocument/2006/relationships/notesSlide" Target="/ppt/notesSlides/notesSlide10.xml" Id="Rc0362fd6031d4f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55ad36ff254f74" /><Relationship Type="http://schemas.openxmlformats.org/officeDocument/2006/relationships/notesSlide" Target="/ppt/notesSlides/notesSlide11.xml" Id="R90913352ca2e4c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4232d4e54b4e4a" /><Relationship Type="http://schemas.openxmlformats.org/officeDocument/2006/relationships/notesSlide" Target="/ppt/notesSlides/notesSlide12.xml" Id="R7f448a9ca70f4a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3d1262416b45e6" /><Relationship Type="http://schemas.openxmlformats.org/officeDocument/2006/relationships/notesSlide" Target="/ppt/notesSlides/notesSlide13.xml" Id="R23918d75918e4e8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0266d1fed848c8" /><Relationship Type="http://schemas.openxmlformats.org/officeDocument/2006/relationships/notesSlide" Target="/ppt/notesSlides/notesSlide14.xml" Id="R73c53d56d50b46c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795fd3b7604a97" /><Relationship Type="http://schemas.openxmlformats.org/officeDocument/2006/relationships/notesSlide" Target="/ppt/notesSlides/notesSlide15.xml" Id="R9245412c3be240d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bb8a75c4664c64" /><Relationship Type="http://schemas.openxmlformats.org/officeDocument/2006/relationships/notesSlide" Target="/ppt/notesSlides/notesSlide16.xml" Id="Rad2b85213fc24e7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b732645d4143fa" /><Relationship Type="http://schemas.openxmlformats.org/officeDocument/2006/relationships/notesSlide" Target="/ppt/notesSlides/notesSlide17.xml" Id="Rda0216cdb412495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b6bc6935e84a83" /><Relationship Type="http://schemas.openxmlformats.org/officeDocument/2006/relationships/notesSlide" Target="/ppt/notesSlides/notesSlide18.xml" Id="R01c40fa3ca314da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d99d7d6f6d41b7" /><Relationship Type="http://schemas.openxmlformats.org/officeDocument/2006/relationships/notesSlide" Target="/ppt/notesSlides/notesSlide19.xml" Id="Rab4594b9c9db471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c370cb5b494ef7" /><Relationship Type="http://schemas.openxmlformats.org/officeDocument/2006/relationships/notesSlide" Target="/ppt/notesSlides/notesSlide20.xml" Id="R84e354e6cbdc410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c26c5214324740" /><Relationship Type="http://schemas.openxmlformats.org/officeDocument/2006/relationships/notesSlide" Target="/ppt/notesSlides/notesSlide21.xml" Id="Rc4edfcddaa8c42a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7d80334442452b" /><Relationship Type="http://schemas.openxmlformats.org/officeDocument/2006/relationships/notesSlide" Target="/ppt/notesSlides/notesSlide22.xml" Id="R776cd1ab057f420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9d9d12b60e4322" /><Relationship Type="http://schemas.openxmlformats.org/officeDocument/2006/relationships/notesSlide" Target="/ppt/notesSlides/notesSlide23.xml" Id="Re2d53b64dd76434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4089539a1e4eb2" /><Relationship Type="http://schemas.openxmlformats.org/officeDocument/2006/relationships/notesSlide" Target="/ppt/notesSlides/notesSlide24.xml" Id="R98232f5db420438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7520ec10f54b57" /><Relationship Type="http://schemas.openxmlformats.org/officeDocument/2006/relationships/notesSlide" Target="/ppt/notesSlides/notesSlide25.xml" Id="Rb553c1d86cc8462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7765d935fe4eda" /><Relationship Type="http://schemas.openxmlformats.org/officeDocument/2006/relationships/notesSlide" Target="/ppt/notesSlides/notesSlide26.xml" Id="Ra76e5177d318434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3f7781ac554bd2" /><Relationship Type="http://schemas.openxmlformats.org/officeDocument/2006/relationships/notesSlide" Target="/ppt/notesSlides/notesSlide27.xml" Id="Rf5fadd75b6c543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66303-6E43-4ABD-B967-BE2E5FB2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0"/>
            <a:ext cx="781050" cy="68580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6B8D4"/>
          </a:solidFill>
          <a:ln xmlns:a="http://schemas.openxmlformats.org/drawingml/2006/main" w="0">
            <a:solidFill>
              <a:srgbClr val="26B8D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CF738-BE0B-4270-B5EF-2B8E024E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1038225" cy="685800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32CCE7"/>
          </a:solidFill>
          <a:ln xmlns:a="http://schemas.openxmlformats.org/drawingml/2006/main" w="0">
            <a:solidFill>
              <a:srgbClr val="32CCE7"/>
            </a:solidFill>
            <a:prstDash val="solid"/>
          </a:ln>
        </p:spPr>
      </p:sp>
      <p:sp>
        <p:nvSpPr>
          <p:cNvPr id="3" name="text GNSS Front End">
            <a:extLst xmlns:a="http://schemas.openxmlformats.org/drawingml/2006/main">
              <a:ext uri="{FF2B5EF4-FFF2-40B4-BE49-F238E27FC236}">
                <a16:creationId xmlns:a16="http://schemas.microsoft.com/office/drawing/2014/main" id="{431C142D-A26D-4981-9638-BE3F7C0A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7286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1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1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1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1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1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1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1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1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1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1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GNSS Front End</a:t>
            </a:r>
          </a:p>
        </p:txBody>
      </p:sp>
      <p:sp>
        <p:nvSpPr>
          <p:cNvPr id="4" name="text From satellite RF to acquisition-re">
            <a:extLst xmlns:a="http://schemas.openxmlformats.org/drawingml/2006/main">
              <a:ext uri="{FF2B5EF4-FFF2-40B4-BE49-F238E27FC236}">
                <a16:creationId xmlns:a16="http://schemas.microsoft.com/office/drawing/2014/main" id="{4F369D62-47DF-4A53-BFF7-CD437830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09950"/>
            <a:ext cx="747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From satellite RF to acquisition-ready samples</a:t>
            </a:r>
          </a:p>
        </p:txBody>
      </p:sp>
      <p:sp>
        <p:nvSpPr>
          <p:cNvPr id="5" name="text GNSS RECEIVERS  |  MASTER’S LECTURE">
            <a:extLst xmlns:a="http://schemas.openxmlformats.org/drawingml/2006/main">
              <a:ext uri="{FF2B5EF4-FFF2-40B4-BE49-F238E27FC236}">
                <a16:creationId xmlns:a16="http://schemas.microsoft.com/office/drawing/2014/main" id="{B7C225C0-2AE5-4735-9DC7-A3A44837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00725"/>
            <a:ext cx="657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GNSS RECEIVERS  |  MASTER’S LECTURE  |  NCGSA–IST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928D5-49DB-49A3-9F00-9D6F18C2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908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082A6"/>
            </a:solidFill>
            <a:prstDash val="solid"/>
          </a:ln>
        </p:spPr>
      </p:sp>
      <p:sp>
        <p:nvSpPr>
          <p:cNvPr id="7" name="text RF →">
            <a:extLst xmlns:a="http://schemas.openxmlformats.org/drawingml/2006/main">
              <a:ext uri="{FF2B5EF4-FFF2-40B4-BE49-F238E27FC236}">
                <a16:creationId xmlns:a16="http://schemas.microsoft.com/office/drawing/2014/main" id="{DEDB630F-406C-45CF-B925-2130ADEB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09925"/>
            <a:ext cx="638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050D14"/>
                </a:solidFill>
                <a:latin typeface="Segoe UI"/>
                <a:ea typeface="Segoe UI"/>
                <a:cs typeface="Segoe UI"/>
              </a:rPr>
              <a:t>RF →</a:t>
            </a:r>
          </a:p>
        </p:txBody>
      </p:sp>
    </p:spTree>
    <p:extLst>
      <p:ext uri="{BB962C8B-B14F-4D97-AF65-F5344CB8AC3E}">
        <p14:creationId xmlns:p14="http://schemas.microsoft.com/office/powerpoint/2010/main" val="18304830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ext LECTURE MAP">
            <a:extLst xmlns:a="http://schemas.openxmlformats.org/drawingml/2006/main">
              <a:ext uri="{FF2B5EF4-FFF2-40B4-BE49-F238E27FC236}">
                <a16:creationId xmlns:a16="http://schemas.microsoft.com/office/drawing/2014/main" id="{C555F28C-7058-4916-98AE-024BA4E5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6B8D4"/>
                </a:solidFill>
                <a:latin typeface="Segoe UI"/>
                <a:ea typeface="Segoe UI"/>
                <a:cs typeface="Segoe UI"/>
              </a:rPr>
              <a:t>LECTURE MAP</a:t>
            </a:r>
          </a:p>
        </p:txBody>
      </p:sp>
      <p:sp>
        <p:nvSpPr>
          <p:cNvPr id="2" name="text Nine dashboard lessons. One receive">
            <a:extLst xmlns:a="http://schemas.openxmlformats.org/drawingml/2006/main">
              <a:ext uri="{FF2B5EF4-FFF2-40B4-BE49-F238E27FC236}">
                <a16:creationId xmlns:a16="http://schemas.microsoft.com/office/drawing/2014/main" id="{D01F114E-387B-4E9E-A148-1DA8EF9E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7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Nine dashboard lessons. One receive chain.</a:t>
            </a:r>
          </a:p>
        </p:txBody>
      </p:sp>
      <p:sp>
        <p:nvSpPr>
          <p:cNvPr id="3" name="text Each lesson answers a practical rec">
            <a:extLst xmlns:a="http://schemas.openxmlformats.org/drawingml/2006/main">
              <a:ext uri="{FF2B5EF4-FFF2-40B4-BE49-F238E27FC236}">
                <a16:creationId xmlns:a16="http://schemas.microsoft.com/office/drawing/2014/main" id="{4BCC669D-BDB6-439A-A8ED-9A8CA07A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Each lesson answers a practical receiver-design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78362-35B6-4D45-96A1-2BEA002A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6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5" name="text GNSS FRONT END  |  NCGSA VIRTUAL GN">
            <a:extLst xmlns:a="http://schemas.openxmlformats.org/drawingml/2006/main">
              <a:ext uri="{FF2B5EF4-FFF2-40B4-BE49-F238E27FC236}">
                <a16:creationId xmlns:a16="http://schemas.microsoft.com/office/drawing/2014/main" id="{2DA889FD-7F87-4937-AAC5-A9055AEA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81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GNSS FRONT END  |  NCGSA VIRTUAL GNSS LABORATORY</a:t>
            </a:r>
          </a:p>
        </p:txBody>
      </p:sp>
      <p:sp>
        <p:nvSpPr>
          <p:cNvPr id="6" name="text 02">
            <a:extLst xmlns:a="http://schemas.openxmlformats.org/drawingml/2006/main">
              <a:ext uri="{FF2B5EF4-FFF2-40B4-BE49-F238E27FC236}">
                <a16:creationId xmlns:a16="http://schemas.microsoft.com/office/drawing/2014/main" id="{F32E81C7-3BD7-4AB2-9E85-CD6583B1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966C6-CDF8-4157-9C8E-834730B1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347662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2A675-7777-4952-903C-CB4C69EE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47625" cy="1009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8D4"/>
          </a:solidFill>
          <a:ln xmlns:a="http://schemas.openxmlformats.org/drawingml/2006/main" w="0">
            <a:solidFill>
              <a:srgbClr val="26B8D4"/>
            </a:solidFill>
            <a:prstDash val="solid"/>
          </a:ln>
        </p:spPr>
      </p:sp>
      <p:sp>
        <p:nvSpPr>
          <p:cNvPr id="9" name="text 01">
            <a:extLst xmlns:a="http://schemas.openxmlformats.org/drawingml/2006/main">
              <a:ext uri="{FF2B5EF4-FFF2-40B4-BE49-F238E27FC236}">
                <a16:creationId xmlns:a16="http://schemas.microsoft.com/office/drawing/2014/main" id="{2DF10EB1-2A3D-4920-8BA4-F1EF3AE7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19325"/>
            <a:ext cx="447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26B8D4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0" name="text Complete chain">
            <a:extLst xmlns:a="http://schemas.openxmlformats.org/drawingml/2006/main">
              <a:ext uri="{FF2B5EF4-FFF2-40B4-BE49-F238E27FC236}">
                <a16:creationId xmlns:a16="http://schemas.microsoft.com/office/drawing/2014/main" id="{2E8B208F-DBC2-4100-BF24-D670620E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38375"/>
            <a:ext cx="2609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Complete chain</a:t>
            </a:r>
          </a:p>
        </p:txBody>
      </p:sp>
      <p:sp>
        <p:nvSpPr>
          <p:cNvPr id="11" name="text From antenna to samples">
            <a:extLst xmlns:a="http://schemas.openxmlformats.org/drawingml/2006/main">
              <a:ext uri="{FF2B5EF4-FFF2-40B4-BE49-F238E27FC236}">
                <a16:creationId xmlns:a16="http://schemas.microsoft.com/office/drawing/2014/main" id="{4FE87BD4-5DA9-4D8E-A9F9-0DC11B42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638425"/>
            <a:ext cx="2638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From antenna to samples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74D3CD-578C-4015-B14F-9795B74E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14550"/>
            <a:ext cx="347662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9502B-91F8-4992-96F0-1BE59A1A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14550"/>
            <a:ext cx="47625" cy="1009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14" name="text 02">
            <a:extLst xmlns:a="http://schemas.openxmlformats.org/drawingml/2006/main">
              <a:ext uri="{FF2B5EF4-FFF2-40B4-BE49-F238E27FC236}">
                <a16:creationId xmlns:a16="http://schemas.microsoft.com/office/drawing/2014/main" id="{D4E77ED4-D8A7-47CB-9F86-C62E5879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19325"/>
            <a:ext cx="447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2B541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5" name="text GNSS antenna">
            <a:extLst xmlns:a="http://schemas.openxmlformats.org/drawingml/2006/main">
              <a:ext uri="{FF2B5EF4-FFF2-40B4-BE49-F238E27FC236}">
                <a16:creationId xmlns:a16="http://schemas.microsoft.com/office/drawing/2014/main" id="{5751D246-9603-4C20-A7C3-195E3D9B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38375"/>
            <a:ext cx="2609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GNSS antenna</a:t>
            </a:r>
          </a:p>
        </p:txBody>
      </p:sp>
      <p:sp>
        <p:nvSpPr>
          <p:cNvPr id="16" name="text RHCP, gain, phase centre">
            <a:extLst xmlns:a="http://schemas.openxmlformats.org/drawingml/2006/main">
              <a:ext uri="{FF2B5EF4-FFF2-40B4-BE49-F238E27FC236}">
                <a16:creationId xmlns:a16="http://schemas.microsoft.com/office/drawing/2014/main" id="{E8887109-D08D-4E1C-BB5D-FC9F16A5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38425"/>
            <a:ext cx="2638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RHCP, gain, phase centre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F7AAF-A8BA-4BA6-9F2C-6C4541F4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14550"/>
            <a:ext cx="347662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834F68-D80C-4B98-9D1E-4882EA8D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14550"/>
            <a:ext cx="47625" cy="1009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19" name="text 03">
            <a:extLst xmlns:a="http://schemas.openxmlformats.org/drawingml/2006/main">
              <a:ext uri="{FF2B5EF4-FFF2-40B4-BE49-F238E27FC236}">
                <a16:creationId xmlns:a16="http://schemas.microsoft.com/office/drawing/2014/main" id="{803E74D6-C493-4A6C-A692-7715BCC3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19325"/>
            <a:ext cx="447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24C29A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0" name="text Noise &amp; sensitivity">
            <a:extLst xmlns:a="http://schemas.openxmlformats.org/drawingml/2006/main">
              <a:ext uri="{FF2B5EF4-FFF2-40B4-BE49-F238E27FC236}">
                <a16:creationId xmlns:a16="http://schemas.microsoft.com/office/drawing/2014/main" id="{43DE1810-76D0-40AF-B9A1-6DC9E55E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238375"/>
            <a:ext cx="2609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Noise &amp; sensitivity</a:t>
            </a:r>
          </a:p>
        </p:txBody>
      </p:sp>
      <p:sp>
        <p:nvSpPr>
          <p:cNvPr id="21" name="text Why signals appear buried">
            <a:extLst xmlns:a="http://schemas.openxmlformats.org/drawingml/2006/main">
              <a:ext uri="{FF2B5EF4-FFF2-40B4-BE49-F238E27FC236}">
                <a16:creationId xmlns:a16="http://schemas.microsoft.com/office/drawing/2014/main" id="{0C6BDB39-1AFE-4B3D-9F41-37C1E2E5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638425"/>
            <a:ext cx="2638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Why signals appear buried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68DD06-A208-4ABA-AE53-C73445FE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86125"/>
            <a:ext cx="347662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C732F4-C1B1-49B3-AE92-1F231BE0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86125"/>
            <a:ext cx="47625" cy="1009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37AE8"/>
          </a:solidFill>
          <a:ln xmlns:a="http://schemas.openxmlformats.org/drawingml/2006/main" w="0">
            <a:solidFill>
              <a:srgbClr val="A37AE8"/>
            </a:solidFill>
            <a:prstDash val="solid"/>
          </a:ln>
        </p:spPr>
      </p:sp>
      <p:sp>
        <p:nvSpPr>
          <p:cNvPr id="24" name="text 04">
            <a:extLst xmlns:a="http://schemas.openxmlformats.org/drawingml/2006/main">
              <a:ext uri="{FF2B5EF4-FFF2-40B4-BE49-F238E27FC236}">
                <a16:creationId xmlns:a16="http://schemas.microsoft.com/office/drawing/2014/main" id="{29DAAFF7-D3AA-4FCA-988F-53B5DF47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447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A37AE8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5" name="text Filtering">
            <a:extLst xmlns:a="http://schemas.openxmlformats.org/drawingml/2006/main">
              <a:ext uri="{FF2B5EF4-FFF2-40B4-BE49-F238E27FC236}">
                <a16:creationId xmlns:a16="http://schemas.microsoft.com/office/drawing/2014/main" id="{0C0D4B3E-8458-479D-828D-F723F08C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409950"/>
            <a:ext cx="2609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Filtering</a:t>
            </a:r>
          </a:p>
        </p:txBody>
      </p:sp>
      <p:sp>
        <p:nvSpPr>
          <p:cNvPr id="26" name="text Keep the useful spectrum">
            <a:extLst xmlns:a="http://schemas.openxmlformats.org/drawingml/2006/main">
              <a:ext uri="{FF2B5EF4-FFF2-40B4-BE49-F238E27FC236}">
                <a16:creationId xmlns:a16="http://schemas.microsoft.com/office/drawing/2014/main" id="{430B11DD-EF5D-4D9F-AC8F-00D7232D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810000"/>
            <a:ext cx="2638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Keep the useful spectrum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68D5B0-C7C0-4B90-97F0-3195338E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86125"/>
            <a:ext cx="347662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117A28-46B6-4AEE-9784-D2DFFC3A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86125"/>
            <a:ext cx="47625" cy="1009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50A1"/>
          </a:solidFill>
          <a:ln xmlns:a="http://schemas.openxmlformats.org/drawingml/2006/main" w="0">
            <a:solidFill>
              <a:srgbClr val="E550A1"/>
            </a:solidFill>
            <a:prstDash val="solid"/>
          </a:ln>
        </p:spPr>
      </p:sp>
      <p:sp>
        <p:nvSpPr>
          <p:cNvPr id="29" name="text 05">
            <a:extLst xmlns:a="http://schemas.openxmlformats.org/drawingml/2006/main">
              <a:ext uri="{FF2B5EF4-FFF2-40B4-BE49-F238E27FC236}">
                <a16:creationId xmlns:a16="http://schemas.microsoft.com/office/drawing/2014/main" id="{6A6FF32A-59A5-4574-8E14-DB97476A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90900"/>
            <a:ext cx="447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E550A1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30" name="text Mixing">
            <a:extLst xmlns:a="http://schemas.openxmlformats.org/drawingml/2006/main">
              <a:ext uri="{FF2B5EF4-FFF2-40B4-BE49-F238E27FC236}">
                <a16:creationId xmlns:a16="http://schemas.microsoft.com/office/drawing/2014/main" id="{78B00EC2-C271-4796-B32D-4CB0F6AB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409950"/>
            <a:ext cx="2609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Mixing</a:t>
            </a:r>
          </a:p>
        </p:txBody>
      </p:sp>
      <p:sp>
        <p:nvSpPr>
          <p:cNvPr id="31" name="text RF to intermediate frequency">
            <a:extLst xmlns:a="http://schemas.openxmlformats.org/drawingml/2006/main">
              <a:ext uri="{FF2B5EF4-FFF2-40B4-BE49-F238E27FC236}">
                <a16:creationId xmlns:a16="http://schemas.microsoft.com/office/drawing/2014/main" id="{F8F36639-2E4F-4F14-83E2-B35C4698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810000"/>
            <a:ext cx="2638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RF to intermediate frequency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CD1799-096D-404A-8683-C660B726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286125"/>
            <a:ext cx="347662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9BB04A-D26E-4FF8-B832-80670126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286125"/>
            <a:ext cx="47625" cy="1009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A4F4"/>
          </a:solidFill>
          <a:ln xmlns:a="http://schemas.openxmlformats.org/drawingml/2006/main" w="0">
            <a:solidFill>
              <a:srgbClr val="4DA4F4"/>
            </a:solidFill>
            <a:prstDash val="solid"/>
          </a:ln>
        </p:spPr>
      </p:sp>
      <p:sp>
        <p:nvSpPr>
          <p:cNvPr id="34" name="text 06">
            <a:extLst xmlns:a="http://schemas.openxmlformats.org/drawingml/2006/main">
              <a:ext uri="{FF2B5EF4-FFF2-40B4-BE49-F238E27FC236}">
                <a16:creationId xmlns:a16="http://schemas.microsoft.com/office/drawing/2014/main" id="{52B6B8AB-2CC9-4828-92AA-567C3DCF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90900"/>
            <a:ext cx="447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4DA4F4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35" name="text Sampling">
            <a:extLst xmlns:a="http://schemas.openxmlformats.org/drawingml/2006/main">
              <a:ext uri="{FF2B5EF4-FFF2-40B4-BE49-F238E27FC236}">
                <a16:creationId xmlns:a16="http://schemas.microsoft.com/office/drawing/2014/main" id="{D3A6320C-1F0F-417C-BCD1-C400390E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409950"/>
            <a:ext cx="2609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Sampling</a:t>
            </a:r>
          </a:p>
        </p:txBody>
      </p:sp>
      <p:sp>
        <p:nvSpPr>
          <p:cNvPr id="36" name="text Avoid unwanted alias overlap">
            <a:extLst xmlns:a="http://schemas.openxmlformats.org/drawingml/2006/main">
              <a:ext uri="{FF2B5EF4-FFF2-40B4-BE49-F238E27FC236}">
                <a16:creationId xmlns:a16="http://schemas.microsoft.com/office/drawing/2014/main" id="{54885B65-012E-4277-8C32-1CF75D04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810000"/>
            <a:ext cx="2638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Avoid unwanted alias overlap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176570-E0AA-47CD-AC01-0FD318D9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347662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949B80-7AED-4F12-82BD-DB136647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47625" cy="1009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39" name="text 07">
            <a:extLst xmlns:a="http://schemas.openxmlformats.org/drawingml/2006/main">
              <a:ext uri="{FF2B5EF4-FFF2-40B4-BE49-F238E27FC236}">
                <a16:creationId xmlns:a16="http://schemas.microsoft.com/office/drawing/2014/main" id="{064ED9FF-E289-4ED4-AC51-E0844F35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447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2B541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40" name="text ADC &amp; AGC">
            <a:extLst xmlns:a="http://schemas.openxmlformats.org/drawingml/2006/main">
              <a:ext uri="{FF2B5EF4-FFF2-40B4-BE49-F238E27FC236}">
                <a16:creationId xmlns:a16="http://schemas.microsoft.com/office/drawing/2014/main" id="{77B3AF05-36DF-42BF-A7EA-3F7884B0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581525"/>
            <a:ext cx="2609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ADC &amp; AGC</a:t>
            </a:r>
          </a:p>
        </p:txBody>
      </p:sp>
      <p:sp>
        <p:nvSpPr>
          <p:cNvPr id="41" name="text Quantize without clipping">
            <a:extLst xmlns:a="http://schemas.openxmlformats.org/drawingml/2006/main">
              <a:ext uri="{FF2B5EF4-FFF2-40B4-BE49-F238E27FC236}">
                <a16:creationId xmlns:a16="http://schemas.microsoft.com/office/drawing/2014/main" id="{F35FAB5C-C342-4982-B4A7-E8C6862A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981575"/>
            <a:ext cx="2638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Quantize without clipping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4EBFAC-6252-4BE7-8784-9FC08224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457700"/>
            <a:ext cx="347662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682D3F-D89B-4848-9C34-1B83BF17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457700"/>
            <a:ext cx="47625" cy="1009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44" name="text 08">
            <a:extLst xmlns:a="http://schemas.openxmlformats.org/drawingml/2006/main">
              <a:ext uri="{FF2B5EF4-FFF2-40B4-BE49-F238E27FC236}">
                <a16:creationId xmlns:a16="http://schemas.microsoft.com/office/drawing/2014/main" id="{594F4FF1-5E3B-425A-82FE-586FDF41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62475"/>
            <a:ext cx="447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24C29A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45" name="text Sample inspection">
            <a:extLst xmlns:a="http://schemas.openxmlformats.org/drawingml/2006/main">
              <a:ext uri="{FF2B5EF4-FFF2-40B4-BE49-F238E27FC236}">
                <a16:creationId xmlns:a16="http://schemas.microsoft.com/office/drawing/2014/main" id="{052E3966-528E-4D58-BBA0-6A3FAF56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581525"/>
            <a:ext cx="2609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Sample inspection</a:t>
            </a:r>
          </a:p>
        </p:txBody>
      </p:sp>
      <p:sp>
        <p:nvSpPr>
          <p:cNvPr id="46" name="text Waveform · histogram · PSD">
            <a:extLst xmlns:a="http://schemas.openxmlformats.org/drawingml/2006/main">
              <a:ext uri="{FF2B5EF4-FFF2-40B4-BE49-F238E27FC236}">
                <a16:creationId xmlns:a16="http://schemas.microsoft.com/office/drawing/2014/main" id="{7AEBBDBA-D232-44BA-8CD9-5D321C7B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981575"/>
            <a:ext cx="2638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Waveform · histogram · PSD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47C482-E3C1-4DAA-B482-04328D9C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457700"/>
            <a:ext cx="347662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26845A-6EC2-483D-9C01-367DB317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457700"/>
            <a:ext cx="47625" cy="1009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8D4"/>
          </a:solidFill>
          <a:ln xmlns:a="http://schemas.openxmlformats.org/drawingml/2006/main" w="0">
            <a:solidFill>
              <a:srgbClr val="26B8D4"/>
            </a:solidFill>
            <a:prstDash val="solid"/>
          </a:ln>
        </p:spPr>
      </p:sp>
      <p:sp>
        <p:nvSpPr>
          <p:cNvPr id="49" name="text 09">
            <a:extLst xmlns:a="http://schemas.openxmlformats.org/drawingml/2006/main">
              <a:ext uri="{FF2B5EF4-FFF2-40B4-BE49-F238E27FC236}">
                <a16:creationId xmlns:a16="http://schemas.microsoft.com/office/drawing/2014/main" id="{71F106F7-FC46-449B-AEAA-86D6417E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62475"/>
            <a:ext cx="447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26B8D4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50" name="text Acquisition handoff">
            <a:extLst xmlns:a="http://schemas.openxmlformats.org/drawingml/2006/main">
              <a:ext uri="{FF2B5EF4-FFF2-40B4-BE49-F238E27FC236}">
                <a16:creationId xmlns:a16="http://schemas.microsoft.com/office/drawing/2014/main" id="{0A644285-0B71-452C-A4F7-4EF99C7A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581525"/>
            <a:ext cx="2609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Acquisition handoff</a:t>
            </a:r>
          </a:p>
        </p:txBody>
      </p:sp>
      <p:sp>
        <p:nvSpPr>
          <p:cNvPr id="51" name="text Digital IF and sample metadata">
            <a:extLst xmlns:a="http://schemas.openxmlformats.org/drawingml/2006/main">
              <a:ext uri="{FF2B5EF4-FFF2-40B4-BE49-F238E27FC236}">
                <a16:creationId xmlns:a16="http://schemas.microsoft.com/office/drawing/2014/main" id="{9A331BBA-8BA3-4FA6-A20E-F525419E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981575"/>
            <a:ext cx="2638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Digital IF and sample metadata</a:t>
            </a:r>
          </a:p>
        </p:txBody>
      </p:sp>
    </p:spTree>
    <p:extLst>
      <p:ext uri="{BB962C8B-B14F-4D97-AF65-F5344CB8AC3E}">
        <p14:creationId xmlns:p14="http://schemas.microsoft.com/office/powerpoint/2010/main" val="11252478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 RECEIVER PERSPECTIVE">
            <a:extLst xmlns:a="http://schemas.openxmlformats.org/drawingml/2006/main">
              <a:ext uri="{FF2B5EF4-FFF2-40B4-BE49-F238E27FC236}">
                <a16:creationId xmlns:a16="http://schemas.microsoft.com/office/drawing/2014/main" id="{6470438F-A55A-400D-9D26-E256044F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6B8D4"/>
                </a:solidFill>
                <a:latin typeface="Segoe UI"/>
                <a:ea typeface="Segoe UI"/>
                <a:cs typeface="Segoe UI"/>
              </a:rPr>
              <a:t>RECEIVER PERSPECTIVE</a:t>
            </a:r>
          </a:p>
        </p:txBody>
      </p:sp>
      <p:sp>
        <p:nvSpPr>
          <p:cNvPr id="2" name="text What the front end actually does">
            <a:extLst xmlns:a="http://schemas.openxmlformats.org/drawingml/2006/main">
              <a:ext uri="{FF2B5EF4-FFF2-40B4-BE49-F238E27FC236}">
                <a16:creationId xmlns:a16="http://schemas.microsoft.com/office/drawing/2014/main" id="{B68057C9-FA95-4E05-9513-6A2162E3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7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What the front end actually does</a:t>
            </a:r>
          </a:p>
        </p:txBody>
      </p:sp>
      <p:sp>
        <p:nvSpPr>
          <p:cNvPr id="3" name="text It conditions a very weak analog si">
            <a:extLst xmlns:a="http://schemas.openxmlformats.org/drawingml/2006/main">
              <a:ext uri="{FF2B5EF4-FFF2-40B4-BE49-F238E27FC236}">
                <a16:creationId xmlns:a16="http://schemas.microsoft.com/office/drawing/2014/main" id="{1ECEBBE9-AE5E-4519-9A0E-989EE906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It conditions a very weak analog signal and represents it as digital samples.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437DE-DD36-484C-965B-983CD13D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6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5" name="text GNSS FRONT END  |  NCGSA VIRTUAL GN">
            <a:extLst xmlns:a="http://schemas.openxmlformats.org/drawingml/2006/main">
              <a:ext uri="{FF2B5EF4-FFF2-40B4-BE49-F238E27FC236}">
                <a16:creationId xmlns:a16="http://schemas.microsoft.com/office/drawing/2014/main" id="{D0CDC369-C208-4FA7-A3F0-6432E4E0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81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GNSS FRONT END  |  NCGSA VIRTUAL GNSS LABORATORY</a:t>
            </a:r>
          </a:p>
        </p:txBody>
      </p:sp>
      <p:sp>
        <p:nvSpPr>
          <p:cNvPr id="6" name="text 03">
            <a:extLst xmlns:a="http://schemas.openxmlformats.org/drawingml/2006/main">
              <a:ext uri="{FF2B5EF4-FFF2-40B4-BE49-F238E27FC236}">
                <a16:creationId xmlns:a16="http://schemas.microsoft.com/office/drawing/2014/main" id="{866BD0D8-CC2D-4E6E-A9D9-0223A6E0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614F8-D131-48F3-9BB4-7C6E1DD4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43175"/>
            <a:ext cx="31432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C04E8-48F6-4120-8F59-CD60BE90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43175"/>
            <a:ext cx="47625" cy="1752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37AE8"/>
          </a:solidFill>
          <a:ln xmlns:a="http://schemas.openxmlformats.org/drawingml/2006/main" w="0">
            <a:solidFill>
              <a:srgbClr val="A37AE8"/>
            </a:solidFill>
            <a:prstDash val="solid"/>
          </a:ln>
        </p:spPr>
      </p:sp>
      <p:sp>
        <p:nvSpPr>
          <p:cNvPr id="9" name="text SATELLITE SIGNAL">
            <a:extLst xmlns:a="http://schemas.openxmlformats.org/drawingml/2006/main">
              <a:ext uri="{FF2B5EF4-FFF2-40B4-BE49-F238E27FC236}">
                <a16:creationId xmlns:a16="http://schemas.microsoft.com/office/drawing/2014/main" id="{3F9B3F93-5F37-4290-A5C3-84F1BEE8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924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SATELLITE SIGNAL</a:t>
            </a:r>
          </a:p>
        </p:txBody>
      </p:sp>
      <p:sp>
        <p:nvSpPr>
          <p:cNvPr id="10" name="text L-band RF at the receiving antenna">
            <a:extLst xmlns:a="http://schemas.openxmlformats.org/drawingml/2006/main">
              <a:ext uri="{FF2B5EF4-FFF2-40B4-BE49-F238E27FC236}">
                <a16:creationId xmlns:a16="http://schemas.microsoft.com/office/drawing/2014/main" id="{602DFB0C-A3B2-4EEC-A9C9-E0DD6DD5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43225"/>
            <a:ext cx="29241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L-band RF at the receiving antenna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59DE1-3C5C-4405-9AC4-52C1AE4C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33750"/>
            <a:ext cx="4572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2A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EBABD-2EBC-49C9-AF0B-B99A36EA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43175"/>
            <a:ext cx="3305175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C65FC-74EA-49A7-BD39-1DD36B2D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43175"/>
            <a:ext cx="47625" cy="1752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8D4"/>
          </a:solidFill>
          <a:ln xmlns:a="http://schemas.openxmlformats.org/drawingml/2006/main" w="0">
            <a:solidFill>
              <a:srgbClr val="26B8D4"/>
            </a:solidFill>
            <a:prstDash val="solid"/>
          </a:ln>
        </p:spPr>
      </p:sp>
      <p:sp>
        <p:nvSpPr>
          <p:cNvPr id="14" name="text FRONT END">
            <a:extLst xmlns:a="http://schemas.openxmlformats.org/drawingml/2006/main">
              <a:ext uri="{FF2B5EF4-FFF2-40B4-BE49-F238E27FC236}">
                <a16:creationId xmlns:a16="http://schemas.microsoft.com/office/drawing/2014/main" id="{A18D1690-E07A-482D-B474-CDA31D5A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28900"/>
            <a:ext cx="308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FRONT END</a:t>
            </a:r>
          </a:p>
        </p:txBody>
      </p:sp>
      <p:sp>
        <p:nvSpPr>
          <p:cNvPr id="15" name="text Select · amplify · translate · samp">
            <a:extLst xmlns:a="http://schemas.openxmlformats.org/drawingml/2006/main">
              <a:ext uri="{FF2B5EF4-FFF2-40B4-BE49-F238E27FC236}">
                <a16:creationId xmlns:a16="http://schemas.microsoft.com/office/drawing/2014/main" id="{71DDE09E-76C3-4A76-9A36-931C4994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43225"/>
            <a:ext cx="30861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Select · amplify · translate · sample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0A6488-E230-4B91-964A-57BCF22B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333750"/>
            <a:ext cx="4572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2A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5814E3-768F-46C2-8141-33BAA4D3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43175"/>
            <a:ext cx="3171825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3EB744-0ABF-432F-8138-55E90636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43175"/>
            <a:ext cx="47625" cy="1752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19" name="text BASEBAND DSP">
            <a:extLst xmlns:a="http://schemas.openxmlformats.org/drawingml/2006/main">
              <a:ext uri="{FF2B5EF4-FFF2-40B4-BE49-F238E27FC236}">
                <a16:creationId xmlns:a16="http://schemas.microsoft.com/office/drawing/2014/main" id="{93F4778F-30B8-4AE8-AAAA-1B881816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2890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BASEBAND DSP</a:t>
            </a:r>
          </a:p>
        </p:txBody>
      </p:sp>
      <p:sp>
        <p:nvSpPr>
          <p:cNvPr id="20" name="text Acquire PRN / estimate Doppler / tr">
            <a:extLst xmlns:a="http://schemas.openxmlformats.org/drawingml/2006/main">
              <a:ext uri="{FF2B5EF4-FFF2-40B4-BE49-F238E27FC236}">
                <a16:creationId xmlns:a16="http://schemas.microsoft.com/office/drawing/2014/main" id="{3B116F0A-43CE-443E-9515-E7314568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43225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Acquire PRN / estimate Doppler / track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3EA162-CD38-4756-B8BE-5E875B7D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00650"/>
            <a:ext cx="10915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073CCF-E852-4CB2-B8AE-7C359BBD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00650"/>
            <a:ext cx="381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8D4"/>
          </a:solidFill>
          <a:ln xmlns:a="http://schemas.openxmlformats.org/drawingml/2006/main" w="0">
            <a:solidFill>
              <a:srgbClr val="26B8D4"/>
            </a:solidFill>
            <a:prstDash val="solid"/>
          </a:ln>
        </p:spPr>
      </p:sp>
      <p:sp>
        <p:nvSpPr>
          <p:cNvPr id="23" name="text The front end does not “find satell">
            <a:extLst xmlns:a="http://schemas.openxmlformats.org/drawingml/2006/main">
              <a:ext uri="{FF2B5EF4-FFF2-40B4-BE49-F238E27FC236}">
                <a16:creationId xmlns:a16="http://schemas.microsoft.com/office/drawing/2014/main" id="{43BA16FB-419C-4C27-B214-4F96D4E8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27685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The front end does not “find satellites” yet; it prepares faithful samples for the algorithms that do.</a:t>
            </a:r>
          </a:p>
        </p:txBody>
      </p:sp>
    </p:spTree>
    <p:extLst>
      <p:ext uri="{BB962C8B-B14F-4D97-AF65-F5344CB8AC3E}">
        <p14:creationId xmlns:p14="http://schemas.microsoft.com/office/powerpoint/2010/main" val="2546066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text LESSON 01  ·  COMPLETE FRONT END">
            <a:extLst xmlns:a="http://schemas.openxmlformats.org/drawingml/2006/main">
              <a:ext uri="{FF2B5EF4-FFF2-40B4-BE49-F238E27FC236}">
                <a16:creationId xmlns:a16="http://schemas.microsoft.com/office/drawing/2014/main" id="{719901B0-1BFA-4EA6-BF01-808123D1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6B8D4"/>
                </a:solidFill>
                <a:latin typeface="Segoe UI"/>
                <a:ea typeface="Segoe UI"/>
                <a:cs typeface="Segoe UI"/>
              </a:rPr>
              <a:t>LESSON 01  ·  COMPLETE FRONT END</a:t>
            </a:r>
          </a:p>
        </p:txBody>
      </p:sp>
      <p:sp>
        <p:nvSpPr>
          <p:cNvPr id="2" name="text Follow the signal — and the clock">
            <a:extLst xmlns:a="http://schemas.openxmlformats.org/drawingml/2006/main">
              <a:ext uri="{FF2B5EF4-FFF2-40B4-BE49-F238E27FC236}">
                <a16:creationId xmlns:a16="http://schemas.microsoft.com/office/drawing/2014/main" id="{FE211893-BABE-4DE5-AA7E-D0331D47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7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Follow the signal — and the clock</a:t>
            </a:r>
          </a:p>
        </p:txBody>
      </p:sp>
      <p:sp>
        <p:nvSpPr>
          <p:cNvPr id="3" name="text Dashboard reference architecture: G">
            <a:extLst xmlns:a="http://schemas.openxmlformats.org/drawingml/2006/main">
              <a:ext uri="{FF2B5EF4-FFF2-40B4-BE49-F238E27FC236}">
                <a16:creationId xmlns:a16="http://schemas.microsoft.com/office/drawing/2014/main" id="{DEF7E237-7ADE-408F-9F96-76F95AD0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Dashboard reference architecture: GPS L1, real intermediate-frequency sampling.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F0B30-3BE7-4096-95D5-8F3F2B28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6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5" name="text GNSS FRONT END  |  NCGSA VIRTUAL GN">
            <a:extLst xmlns:a="http://schemas.openxmlformats.org/drawingml/2006/main">
              <a:ext uri="{FF2B5EF4-FFF2-40B4-BE49-F238E27FC236}">
                <a16:creationId xmlns:a16="http://schemas.microsoft.com/office/drawing/2014/main" id="{E4982235-AD35-4543-B2D1-EF01CCF2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81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GNSS FRONT END  |  NCGSA VIRTUAL GNSS LABORATORY</a:t>
            </a:r>
          </a:p>
        </p:txBody>
      </p:sp>
      <p:sp>
        <p:nvSpPr>
          <p:cNvPr id="6" name="text 04">
            <a:extLst xmlns:a="http://schemas.openxmlformats.org/drawingml/2006/main">
              <a:ext uri="{FF2B5EF4-FFF2-40B4-BE49-F238E27FC236}">
                <a16:creationId xmlns:a16="http://schemas.microsoft.com/office/drawing/2014/main" id="{FDE40F4D-49C2-4CCB-A970-B08B4BDC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01874-EE2B-4338-9481-EDA1FC0E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581275"/>
            <a:ext cx="14192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8C8EB4-AB0E-4918-B9DA-E819DE7F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581275"/>
            <a:ext cx="476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9" name="text ANTENNA">
            <a:extLst xmlns:a="http://schemas.openxmlformats.org/drawingml/2006/main">
              <a:ext uri="{FF2B5EF4-FFF2-40B4-BE49-F238E27FC236}">
                <a16:creationId xmlns:a16="http://schemas.microsoft.com/office/drawing/2014/main" id="{551852FF-3E72-47B8-884D-A9D1B2E7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622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ANTENNA</a:t>
            </a:r>
          </a:p>
        </p:txBody>
      </p:sp>
      <p:sp>
        <p:nvSpPr>
          <p:cNvPr id="10" name="text RHCP">
            <a:extLst xmlns:a="http://schemas.openxmlformats.org/drawingml/2006/main">
              <a:ext uri="{FF2B5EF4-FFF2-40B4-BE49-F238E27FC236}">
                <a16:creationId xmlns:a16="http://schemas.microsoft.com/office/drawing/2014/main" id="{6430C012-92B0-46DF-952F-BDBC4604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67075"/>
            <a:ext cx="1228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RHCP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8C5BE-F228-46EE-866D-DB77BCA3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95625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2A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7B565-1B9F-4E1D-A687-5B73EAA7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81275"/>
            <a:ext cx="14192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3EA3D-996B-4B6E-A820-C029B3EA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81275"/>
            <a:ext cx="476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14" name="text CABLE">
            <a:extLst xmlns:a="http://schemas.openxmlformats.org/drawingml/2006/main">
              <a:ext uri="{FF2B5EF4-FFF2-40B4-BE49-F238E27FC236}">
                <a16:creationId xmlns:a16="http://schemas.microsoft.com/office/drawing/2014/main" id="{96BCD668-5693-4948-82CA-CE6B94A9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7622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CABLE</a:t>
            </a:r>
          </a:p>
        </p:txBody>
      </p:sp>
      <p:sp>
        <p:nvSpPr>
          <p:cNvPr id="15" name="text loss">
            <a:extLst xmlns:a="http://schemas.openxmlformats.org/drawingml/2006/main">
              <a:ext uri="{FF2B5EF4-FFF2-40B4-BE49-F238E27FC236}">
                <a16:creationId xmlns:a16="http://schemas.microsoft.com/office/drawing/2014/main" id="{D36ED217-9DA1-4234-98D4-A56299D8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67075"/>
            <a:ext cx="1228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loss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FA0C1A-46DD-48D2-B467-877F70A5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95625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2A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312529-A3C4-4A63-8F28-18062CCE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81275"/>
            <a:ext cx="14192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F61481-45D3-4E18-9A1D-460BFEDE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81275"/>
            <a:ext cx="476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8D4"/>
          </a:solidFill>
          <a:ln xmlns:a="http://schemas.openxmlformats.org/drawingml/2006/main" w="0">
            <a:solidFill>
              <a:srgbClr val="26B8D4"/>
            </a:solidFill>
            <a:prstDash val="solid"/>
          </a:ln>
        </p:spPr>
      </p:sp>
      <p:sp>
        <p:nvSpPr>
          <p:cNvPr id="19" name="text RF FILTER">
            <a:extLst xmlns:a="http://schemas.openxmlformats.org/drawingml/2006/main">
              <a:ext uri="{FF2B5EF4-FFF2-40B4-BE49-F238E27FC236}">
                <a16:creationId xmlns:a16="http://schemas.microsoft.com/office/drawing/2014/main" id="{23DA3C77-7479-4741-A6F2-731D45F4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7622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RF FILTER</a:t>
            </a:r>
          </a:p>
        </p:txBody>
      </p:sp>
      <p:sp>
        <p:nvSpPr>
          <p:cNvPr id="20" name="text select">
            <a:extLst xmlns:a="http://schemas.openxmlformats.org/drawingml/2006/main">
              <a:ext uri="{FF2B5EF4-FFF2-40B4-BE49-F238E27FC236}">
                <a16:creationId xmlns:a16="http://schemas.microsoft.com/office/drawing/2014/main" id="{8DD547CE-FD48-4203-AB03-C3AF810F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267075"/>
            <a:ext cx="1228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select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4B9B0C-2038-4593-A271-B8BC72C2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095625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2A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311349-6E2D-4714-8093-E289C8FC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81275"/>
            <a:ext cx="14192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D03EA5-A2D3-405D-85D1-96A2EDD3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81275"/>
            <a:ext cx="476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8D4"/>
          </a:solidFill>
          <a:ln xmlns:a="http://schemas.openxmlformats.org/drawingml/2006/main" w="0">
            <a:solidFill>
              <a:srgbClr val="26B8D4"/>
            </a:solidFill>
            <a:prstDash val="solid"/>
          </a:ln>
        </p:spPr>
      </p:sp>
      <p:sp>
        <p:nvSpPr>
          <p:cNvPr id="24" name="text LNA">
            <a:extLst xmlns:a="http://schemas.openxmlformats.org/drawingml/2006/main">
              <a:ext uri="{FF2B5EF4-FFF2-40B4-BE49-F238E27FC236}">
                <a16:creationId xmlns:a16="http://schemas.microsoft.com/office/drawing/2014/main" id="{3698CA4E-6346-4190-B56A-33DA2999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622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LNA</a:t>
            </a:r>
          </a:p>
        </p:txBody>
      </p:sp>
      <p:sp>
        <p:nvSpPr>
          <p:cNvPr id="25" name="text low NF">
            <a:extLst xmlns:a="http://schemas.openxmlformats.org/drawingml/2006/main">
              <a:ext uri="{FF2B5EF4-FFF2-40B4-BE49-F238E27FC236}">
                <a16:creationId xmlns:a16="http://schemas.microsoft.com/office/drawing/2014/main" id="{C159B707-F073-4E7D-BE64-5D6F0A65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67075"/>
            <a:ext cx="1228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low NF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D5698A-8564-4240-861F-85AAE12B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95625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2A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FC20D9-676C-4E0B-94FB-B418F0DE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81275"/>
            <a:ext cx="14192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3B6856-BEA3-4EE9-92D5-50B934BF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81275"/>
            <a:ext cx="476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8D4"/>
          </a:solidFill>
          <a:ln xmlns:a="http://schemas.openxmlformats.org/drawingml/2006/main" w="0">
            <a:solidFill>
              <a:srgbClr val="26B8D4"/>
            </a:solidFill>
            <a:prstDash val="solid"/>
          </a:ln>
        </p:spPr>
      </p:sp>
      <p:sp>
        <p:nvSpPr>
          <p:cNvPr id="29" name="text MIXER">
            <a:extLst xmlns:a="http://schemas.openxmlformats.org/drawingml/2006/main">
              <a:ext uri="{FF2B5EF4-FFF2-40B4-BE49-F238E27FC236}">
                <a16:creationId xmlns:a16="http://schemas.microsoft.com/office/drawing/2014/main" id="{6CCF9A55-EC2E-4388-AED2-D2FD09EC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7622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MIXER</a:t>
            </a:r>
          </a:p>
        </p:txBody>
      </p:sp>
      <p:sp>
        <p:nvSpPr>
          <p:cNvPr id="30" name="text downconvert">
            <a:extLst xmlns:a="http://schemas.openxmlformats.org/drawingml/2006/main">
              <a:ext uri="{FF2B5EF4-FFF2-40B4-BE49-F238E27FC236}">
                <a16:creationId xmlns:a16="http://schemas.microsoft.com/office/drawing/2014/main" id="{B27DF5F8-6B3E-4EE4-9D6E-95ACAD99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267075"/>
            <a:ext cx="1228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downconvert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EBE493-00DA-4458-877A-09CACA80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095625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2A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D679BF-9649-46A3-A23F-D151BE6F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81275"/>
            <a:ext cx="14192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105B6D-E55B-4BA5-AF58-AFA5B7BA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81275"/>
            <a:ext cx="476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34" name="text IF FILTER">
            <a:extLst xmlns:a="http://schemas.openxmlformats.org/drawingml/2006/main">
              <a:ext uri="{FF2B5EF4-FFF2-40B4-BE49-F238E27FC236}">
                <a16:creationId xmlns:a16="http://schemas.microsoft.com/office/drawing/2014/main" id="{B53AB44F-EBE7-4DB0-98E2-DD1896AF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622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IF FILTER</a:t>
            </a:r>
          </a:p>
        </p:txBody>
      </p:sp>
      <p:sp>
        <p:nvSpPr>
          <p:cNvPr id="35" name="text band limit">
            <a:extLst xmlns:a="http://schemas.openxmlformats.org/drawingml/2006/main">
              <a:ext uri="{FF2B5EF4-FFF2-40B4-BE49-F238E27FC236}">
                <a16:creationId xmlns:a16="http://schemas.microsoft.com/office/drawing/2014/main" id="{FFEFE803-4EA2-47C9-8545-950AD2F7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67075"/>
            <a:ext cx="1228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band limit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C185B3-AC7D-4B09-ADFA-5B476A66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095625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2A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205E4D-5E19-4F11-8B6F-6B0BE10D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581275"/>
            <a:ext cx="14192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4D7096-4315-48A1-81BB-1AA19F95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581275"/>
            <a:ext cx="476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39" name="text ADC">
            <a:extLst xmlns:a="http://schemas.openxmlformats.org/drawingml/2006/main">
              <a:ext uri="{FF2B5EF4-FFF2-40B4-BE49-F238E27FC236}">
                <a16:creationId xmlns:a16="http://schemas.microsoft.com/office/drawing/2014/main" id="{989145AE-2694-4C76-8C9F-A394DE4A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27622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ADC</a:t>
            </a:r>
          </a:p>
        </p:txBody>
      </p:sp>
      <p:sp>
        <p:nvSpPr>
          <p:cNvPr id="40" name="text digitize">
            <a:extLst xmlns:a="http://schemas.openxmlformats.org/drawingml/2006/main">
              <a:ext uri="{FF2B5EF4-FFF2-40B4-BE49-F238E27FC236}">
                <a16:creationId xmlns:a16="http://schemas.microsoft.com/office/drawing/2014/main" id="{B40A84CC-FA78-4D89-805A-55D27427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267075"/>
            <a:ext cx="1228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digitize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AC7E63-D541-4C86-A688-11B01C2A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33875"/>
            <a:ext cx="64770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42" name="text 10 MHz reference  →  frequency synt">
            <a:extLst xmlns:a="http://schemas.openxmlformats.org/drawingml/2006/main">
              <a:ext uri="{FF2B5EF4-FFF2-40B4-BE49-F238E27FC236}">
                <a16:creationId xmlns:a16="http://schemas.microsoft.com/office/drawing/2014/main" id="{A40A093E-85B5-48C7-96B5-675238EC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05325"/>
            <a:ext cx="5934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A37AE8"/>
                </a:solidFill>
                <a:latin typeface="Segoe UI"/>
                <a:ea typeface="Segoe UI"/>
                <a:cs typeface="Segoe UI"/>
              </a:rPr>
              <a:t>10 MHz reference  →  frequency synthesizer  →  LO + sampling clock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69315C-ECD8-43DA-B35D-3B687A96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10915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59CD23-1013-4B27-874E-ED03DAB9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381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45" name="text Challenge: name the first stage tha">
            <a:extLst xmlns:a="http://schemas.openxmlformats.org/drawingml/2006/main">
              <a:ext uri="{FF2B5EF4-FFF2-40B4-BE49-F238E27FC236}">
                <a16:creationId xmlns:a16="http://schemas.microsoft.com/office/drawing/2014/main" id="{828FCE4A-8A9B-4827-9F72-5E9DEB1C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1497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Challenge: name the first stage that should reject strong out-of-band interferers.</a:t>
            </a:r>
          </a:p>
        </p:txBody>
      </p:sp>
    </p:spTree>
    <p:extLst>
      <p:ext uri="{BB962C8B-B14F-4D97-AF65-F5344CB8AC3E}">
        <p14:creationId xmlns:p14="http://schemas.microsoft.com/office/powerpoint/2010/main" val="11474258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 LESSON 01  ·  FREQUENCY PLAN">
            <a:extLst xmlns:a="http://schemas.openxmlformats.org/drawingml/2006/main">
              <a:ext uri="{FF2B5EF4-FFF2-40B4-BE49-F238E27FC236}">
                <a16:creationId xmlns:a16="http://schemas.microsoft.com/office/drawing/2014/main" id="{0CA28835-26B2-40E6-9169-28C88EF9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2B541"/>
                </a:solidFill>
                <a:latin typeface="Segoe UI"/>
                <a:ea typeface="Segoe UI"/>
                <a:cs typeface="Segoe UI"/>
              </a:rPr>
              <a:t>LESSON 01  ·  FREQUENCY PLAN</a:t>
            </a:r>
          </a:p>
        </p:txBody>
      </p:sp>
      <p:sp>
        <p:nvSpPr>
          <p:cNvPr id="2" name="text A worked GPS L1 front-end frequency">
            <a:extLst xmlns:a="http://schemas.openxmlformats.org/drawingml/2006/main">
              <a:ext uri="{FF2B5EF4-FFF2-40B4-BE49-F238E27FC236}">
                <a16:creationId xmlns:a16="http://schemas.microsoft.com/office/drawing/2014/main" id="{A5EB4948-7331-48D2-81A4-57143787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7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A worked GPS L1 front-end frequency plan</a:t>
            </a:r>
          </a:p>
        </p:txBody>
      </p:sp>
      <p:sp>
        <p:nvSpPr>
          <p:cNvPr id="3" name="text Read these values directly in the d">
            <a:extLst xmlns:a="http://schemas.openxmlformats.org/drawingml/2006/main">
              <a:ext uri="{FF2B5EF4-FFF2-40B4-BE49-F238E27FC236}">
                <a16:creationId xmlns:a16="http://schemas.microsoft.com/office/drawing/2014/main" id="{CBA8828E-420C-42B2-8B4A-951D0B9F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Read these values directly in the dashboard and verify the arithmetic.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1ABD5-66EA-4A64-ADFB-8D0437BD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6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5" name="text GNSS FRONT END  |  NCGSA VIRTUAL GN">
            <a:extLst xmlns:a="http://schemas.openxmlformats.org/drawingml/2006/main">
              <a:ext uri="{FF2B5EF4-FFF2-40B4-BE49-F238E27FC236}">
                <a16:creationId xmlns:a16="http://schemas.microsoft.com/office/drawing/2014/main" id="{AC3CC648-BE51-4CBC-BD9E-9A3A4D77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81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GNSS FRONT END  |  NCGSA VIRTUAL GNSS LABORATORY</a:t>
            </a:r>
          </a:p>
        </p:txBody>
      </p:sp>
      <p:sp>
        <p:nvSpPr>
          <p:cNvPr id="6" name="text 05">
            <a:extLst xmlns:a="http://schemas.openxmlformats.org/drawingml/2006/main">
              <a:ext uri="{FF2B5EF4-FFF2-40B4-BE49-F238E27FC236}">
                <a16:creationId xmlns:a16="http://schemas.microsoft.com/office/drawing/2014/main" id="{1700FA4A-4AB2-476D-AE66-D9B36D9F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7CE8B-7001-4E0D-A0F5-EF5DB9AB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57425"/>
            <a:ext cx="24574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8" name="text 1575.420">
            <a:extLst xmlns:a="http://schemas.openxmlformats.org/drawingml/2006/main">
              <a:ext uri="{FF2B5EF4-FFF2-40B4-BE49-F238E27FC236}">
                <a16:creationId xmlns:a16="http://schemas.microsoft.com/office/drawing/2014/main" id="{C9B3E10C-51B9-4922-9343-ED56D037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52675"/>
            <a:ext cx="2247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6B8D4"/>
                </a:solidFill>
                <a:latin typeface="Segoe UI"/>
                <a:ea typeface="Segoe UI"/>
                <a:cs typeface="Segoe UI"/>
              </a:rPr>
              <a:t>1575.420</a:t>
            </a:r>
          </a:p>
        </p:txBody>
      </p:sp>
      <p:sp>
        <p:nvSpPr>
          <p:cNvPr id="9" name="text RF carrier (MHz)">
            <a:extLst xmlns:a="http://schemas.openxmlformats.org/drawingml/2006/main">
              <a:ext uri="{FF2B5EF4-FFF2-40B4-BE49-F238E27FC236}">
                <a16:creationId xmlns:a16="http://schemas.microsoft.com/office/drawing/2014/main" id="{A5955CCA-A5CC-4BE4-A404-8326D010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22479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RF carrier (MHz)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397DE-B457-44C8-B422-504C1EA3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257425"/>
            <a:ext cx="24574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1" name="text 1527.680">
            <a:extLst xmlns:a="http://schemas.openxmlformats.org/drawingml/2006/main">
              <a:ext uri="{FF2B5EF4-FFF2-40B4-BE49-F238E27FC236}">
                <a16:creationId xmlns:a16="http://schemas.microsoft.com/office/drawing/2014/main" id="{E7CFAC21-B58A-42E7-A394-5D553F87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52675"/>
            <a:ext cx="2247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A37AE8"/>
                </a:solidFill>
                <a:latin typeface="Segoe UI"/>
                <a:ea typeface="Segoe UI"/>
                <a:cs typeface="Segoe UI"/>
              </a:rPr>
              <a:t>1527.680</a:t>
            </a:r>
          </a:p>
        </p:txBody>
      </p:sp>
      <p:sp>
        <p:nvSpPr>
          <p:cNvPr id="12" name="text Local oscillator (MHz)">
            <a:extLst xmlns:a="http://schemas.openxmlformats.org/drawingml/2006/main">
              <a:ext uri="{FF2B5EF4-FFF2-40B4-BE49-F238E27FC236}">
                <a16:creationId xmlns:a16="http://schemas.microsoft.com/office/drawing/2014/main" id="{79ECB111-472E-4F84-B46B-67AF86EA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43200"/>
            <a:ext cx="22479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Local oscillator (MHz)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958AEE-60FC-41CB-A51C-CCA8208C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57425"/>
            <a:ext cx="24574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4" name="text 47.740">
            <a:extLst xmlns:a="http://schemas.openxmlformats.org/drawingml/2006/main">
              <a:ext uri="{FF2B5EF4-FFF2-40B4-BE49-F238E27FC236}">
                <a16:creationId xmlns:a16="http://schemas.microsoft.com/office/drawing/2014/main" id="{73573D5F-148C-42CB-B928-9FC9359E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52675"/>
            <a:ext cx="2247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2B541"/>
                </a:solidFill>
                <a:latin typeface="Segoe UI"/>
                <a:ea typeface="Segoe UI"/>
                <a:cs typeface="Segoe UI"/>
              </a:rPr>
              <a:t>47.740</a:t>
            </a:r>
          </a:p>
        </p:txBody>
      </p:sp>
      <p:sp>
        <p:nvSpPr>
          <p:cNvPr id="15" name="text Analog IF (MHz)">
            <a:extLst xmlns:a="http://schemas.openxmlformats.org/drawingml/2006/main">
              <a:ext uri="{FF2B5EF4-FFF2-40B4-BE49-F238E27FC236}">
                <a16:creationId xmlns:a16="http://schemas.microsoft.com/office/drawing/2014/main" id="{60114DD1-1F7E-4AC1-96DD-7B24EF2A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22479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Analog IF (MHz)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653377-954F-4303-8F37-75F62439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257425"/>
            <a:ext cx="24574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7" name="text 38.192">
            <a:extLst xmlns:a="http://schemas.openxmlformats.org/drawingml/2006/main">
              <a:ext uri="{FF2B5EF4-FFF2-40B4-BE49-F238E27FC236}">
                <a16:creationId xmlns:a16="http://schemas.microsoft.com/office/drawing/2014/main" id="{D73B0143-3628-499F-A16B-9CF31226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52675"/>
            <a:ext cx="2247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4C29A"/>
                </a:solidFill>
                <a:latin typeface="Segoe UI"/>
                <a:ea typeface="Segoe UI"/>
                <a:cs typeface="Segoe UI"/>
              </a:rPr>
              <a:t>38.192</a:t>
            </a:r>
          </a:p>
        </p:txBody>
      </p:sp>
      <p:sp>
        <p:nvSpPr>
          <p:cNvPr id="18" name="text Sample rate (MS/s)">
            <a:extLst xmlns:a="http://schemas.openxmlformats.org/drawingml/2006/main">
              <a:ext uri="{FF2B5EF4-FFF2-40B4-BE49-F238E27FC236}">
                <a16:creationId xmlns:a16="http://schemas.microsoft.com/office/drawing/2014/main" id="{F2F8FE99-4535-46F6-AE00-409DCBDA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43200"/>
            <a:ext cx="22479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Sample rate (MS/s)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D369CE-4A1F-40B9-A74F-E587E231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895725"/>
            <a:ext cx="106870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20" name="text fIF = | fRF − fLO | = |1575.420 − 1">
            <a:extLst xmlns:a="http://schemas.openxmlformats.org/drawingml/2006/main">
              <a:ext uri="{FF2B5EF4-FFF2-40B4-BE49-F238E27FC236}">
                <a16:creationId xmlns:a16="http://schemas.microsoft.com/office/drawing/2014/main" id="{5E3126A3-9B65-457E-9A77-12BF7D72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43375"/>
            <a:ext cx="10144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4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4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4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4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4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4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4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4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4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fIF = | fRF − fLO | = |1575.420 − 1527.680| = 47.740 MHz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96011B-E2F1-40F0-990B-237BFFEB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0"/>
            <a:ext cx="10915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78E52F-62EC-46E7-AE67-2803D7FB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0"/>
            <a:ext cx="381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8D4"/>
          </a:solidFill>
          <a:ln xmlns:a="http://schemas.openxmlformats.org/drawingml/2006/main" w="0">
            <a:solidFill>
              <a:srgbClr val="26B8D4"/>
            </a:solidFill>
            <a:prstDash val="solid"/>
          </a:ln>
        </p:spPr>
      </p:sp>
      <p:sp>
        <p:nvSpPr>
          <p:cNvPr id="23" name="text Shared reference clock: 1,527.68 MH">
            <a:extLst xmlns:a="http://schemas.openxmlformats.org/drawingml/2006/main">
              <a:ext uri="{FF2B5EF4-FFF2-40B4-BE49-F238E27FC236}">
                <a16:creationId xmlns:a16="http://schemas.microsoft.com/office/drawing/2014/main" id="{58240B3F-EDE5-4961-AAAE-59C9BD8B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31495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Shared reference clock: 1,527.68 MHz ÷ 40 = 38.192 MHz sampling clock.</a:t>
            </a:r>
          </a:p>
        </p:txBody>
      </p:sp>
    </p:spTree>
    <p:extLst>
      <p:ext uri="{BB962C8B-B14F-4D97-AF65-F5344CB8AC3E}">
        <p14:creationId xmlns:p14="http://schemas.microsoft.com/office/powerpoint/2010/main" val="12953062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 LESSON 02  ·  GNSS ANTENNA">
            <a:extLst xmlns:a="http://schemas.openxmlformats.org/drawingml/2006/main">
              <a:ext uri="{FF2B5EF4-FFF2-40B4-BE49-F238E27FC236}">
                <a16:creationId xmlns:a16="http://schemas.microsoft.com/office/drawing/2014/main" id="{0625271D-C7C8-4F5E-ADDA-70654E7F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2B541"/>
                </a:solidFill>
                <a:latin typeface="Segoe UI"/>
                <a:ea typeface="Segoe UI"/>
                <a:cs typeface="Segoe UI"/>
              </a:rPr>
              <a:t>LESSON 02  ·  GNSS ANTENNA</a:t>
            </a:r>
          </a:p>
        </p:txBody>
      </p:sp>
      <p:sp>
        <p:nvSpPr>
          <p:cNvPr id="2" name="text Antenna: convert the arriving wave ">
            <a:extLst xmlns:a="http://schemas.openxmlformats.org/drawingml/2006/main">
              <a:ext uri="{FF2B5EF4-FFF2-40B4-BE49-F238E27FC236}">
                <a16:creationId xmlns:a16="http://schemas.microsoft.com/office/drawing/2014/main" id="{8F56EF4B-9556-4FAD-8B53-672EA32E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7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Antenna: convert the arriving wave into RF voltage</a:t>
            </a:r>
          </a:p>
        </p:txBody>
      </p:sp>
      <p:sp>
        <p:nvSpPr>
          <p:cNvPr id="3" name="text A GNSS antenna is part of the measu">
            <a:extLst xmlns:a="http://schemas.openxmlformats.org/drawingml/2006/main">
              <a:ext uri="{FF2B5EF4-FFF2-40B4-BE49-F238E27FC236}">
                <a16:creationId xmlns:a16="http://schemas.microsoft.com/office/drawing/2014/main" id="{6D9EBC68-248D-41D0-9BE9-51048570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A GNSS antenna is part of the measurement system, not merely a connector.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CAF36-4257-4488-BDBD-F43C21B9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6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5" name="text GNSS FRONT END  |  NCGSA VIRTUAL GN">
            <a:extLst xmlns:a="http://schemas.openxmlformats.org/drawingml/2006/main">
              <a:ext uri="{FF2B5EF4-FFF2-40B4-BE49-F238E27FC236}">
                <a16:creationId xmlns:a16="http://schemas.microsoft.com/office/drawing/2014/main" id="{37CBB8F4-27DC-4B92-AD5A-EB366B2A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81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GNSS FRONT END  |  NCGSA VIRTUAL GNSS LABORATORY</a:t>
            </a:r>
          </a:p>
        </p:txBody>
      </p:sp>
      <p:sp>
        <p:nvSpPr>
          <p:cNvPr id="6" name="text 06">
            <a:extLst xmlns:a="http://schemas.openxmlformats.org/drawingml/2006/main">
              <a:ext uri="{FF2B5EF4-FFF2-40B4-BE49-F238E27FC236}">
                <a16:creationId xmlns:a16="http://schemas.microsoft.com/office/drawing/2014/main" id="{F1B87099-0E14-4A80-A943-3A652BE5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CD245-0444-4564-B290-0529B44A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62175"/>
            <a:ext cx="3286125" cy="2714625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9BDDC-32EE-4F0D-A64A-649A6532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62175"/>
            <a:ext cx="47625" cy="2714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8D4"/>
          </a:solidFill>
          <a:ln xmlns:a="http://schemas.openxmlformats.org/drawingml/2006/main" w="0">
            <a:solidFill>
              <a:srgbClr val="26B8D4"/>
            </a:solidFill>
            <a:prstDash val="solid"/>
          </a:ln>
        </p:spPr>
      </p:sp>
      <p:sp>
        <p:nvSpPr>
          <p:cNvPr id="9" name="text Polarization">
            <a:extLst xmlns:a="http://schemas.openxmlformats.org/drawingml/2006/main">
              <a:ext uri="{FF2B5EF4-FFF2-40B4-BE49-F238E27FC236}">
                <a16:creationId xmlns:a16="http://schemas.microsoft.com/office/drawing/2014/main" id="{13497BB0-431D-40E8-827D-52E0B005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26B8D4"/>
                </a:solidFill>
                <a:latin typeface="Segoe UI"/>
                <a:ea typeface="Segoe UI"/>
                <a:cs typeface="Segoe UI"/>
              </a:rPr>
              <a:t>Polarization</a:t>
            </a:r>
          </a:p>
        </p:txBody>
      </p:sp>
      <p:sp>
        <p:nvSpPr>
          <p:cNvPr id="10" name="text GNSS downlinks are normally RHCP. M">
            <a:extLst xmlns:a="http://schemas.openxmlformats.org/drawingml/2006/main">
              <a:ext uri="{FF2B5EF4-FFF2-40B4-BE49-F238E27FC236}">
                <a16:creationId xmlns:a16="http://schemas.microsoft.com/office/drawing/2014/main" id="{C898D933-49AF-4241-B0C1-47B6F1CF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28765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GNSS downlinks are normally RHCP. Matching the sense of rotation limits mismatch loss.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0F7D91-4B0B-433F-8099-9A47DAF4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62175"/>
            <a:ext cx="3286125" cy="2714625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A1BA7-EC85-470C-AE29-F6F3FCB1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62175"/>
            <a:ext cx="47625" cy="2714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13" name="text Gain &amp; pattern">
            <a:extLst xmlns:a="http://schemas.openxmlformats.org/drawingml/2006/main">
              <a:ext uri="{FF2B5EF4-FFF2-40B4-BE49-F238E27FC236}">
                <a16:creationId xmlns:a16="http://schemas.microsoft.com/office/drawing/2014/main" id="{9E284989-89D2-4691-BE37-9D8F1133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3362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2B541"/>
                </a:solidFill>
                <a:latin typeface="Segoe UI"/>
                <a:ea typeface="Segoe UI"/>
                <a:cs typeface="Segoe UI"/>
              </a:rPr>
              <a:t>Gain &amp; pattern</a:t>
            </a:r>
          </a:p>
        </p:txBody>
      </p:sp>
      <p:sp>
        <p:nvSpPr>
          <p:cNvPr id="14" name="text Look at sky coverage, elevation res">
            <a:extLst xmlns:a="http://schemas.openxmlformats.org/drawingml/2006/main">
              <a:ext uri="{FF2B5EF4-FFF2-40B4-BE49-F238E27FC236}">
                <a16:creationId xmlns:a16="http://schemas.microsoft.com/office/drawing/2014/main" id="{45A0001F-E60E-438B-A8AC-5795C25F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71775"/>
            <a:ext cx="28765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Look at sky coverage, elevation response and unwanted low-angle reception.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AFAD01-45A0-4025-98FB-C6976F6A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162175"/>
            <a:ext cx="3286125" cy="2714625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3A15B6-4CEF-4C0B-BB9E-0CA66056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162175"/>
            <a:ext cx="47625" cy="2714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17" name="text Phase center">
            <a:extLst xmlns:a="http://schemas.openxmlformats.org/drawingml/2006/main">
              <a:ext uri="{FF2B5EF4-FFF2-40B4-BE49-F238E27FC236}">
                <a16:creationId xmlns:a16="http://schemas.microsoft.com/office/drawing/2014/main" id="{E5E49999-9828-4243-A9B2-C7E1252D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33362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24C29A"/>
                </a:solidFill>
                <a:latin typeface="Segoe UI"/>
                <a:ea typeface="Segoe UI"/>
                <a:cs typeface="Segoe UI"/>
              </a:rPr>
              <a:t>Phase center</a:t>
            </a:r>
          </a:p>
        </p:txBody>
      </p:sp>
      <p:sp>
        <p:nvSpPr>
          <p:cNvPr id="18" name="text PCO and PCV calibration matter in p">
            <a:extLst xmlns:a="http://schemas.openxmlformats.org/drawingml/2006/main">
              <a:ext uri="{FF2B5EF4-FFF2-40B4-BE49-F238E27FC236}">
                <a16:creationId xmlns:a16="http://schemas.microsoft.com/office/drawing/2014/main" id="{3D92FEF6-4D28-4A2D-995E-686B28EC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71775"/>
            <a:ext cx="28765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PCO and PCV calibration matter in precise carrier-phase measurements.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0C58A7-1F6E-4270-9BD8-4AC7F0C9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10915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BDEBC2-EB1D-46CF-88F3-EE27D571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381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37AE8"/>
          </a:solidFill>
          <a:ln xmlns:a="http://schemas.openxmlformats.org/drawingml/2006/main" w="0">
            <a:solidFill>
              <a:srgbClr val="A37AE8"/>
            </a:solidFill>
            <a:prstDash val="solid"/>
          </a:ln>
        </p:spPr>
      </p:sp>
      <p:sp>
        <p:nvSpPr>
          <p:cNvPr id="21" name="text Dashboard controls: change axial ra">
            <a:extLst xmlns:a="http://schemas.openxmlformats.org/drawingml/2006/main">
              <a:ext uri="{FF2B5EF4-FFF2-40B4-BE49-F238E27FC236}">
                <a16:creationId xmlns:a16="http://schemas.microsoft.com/office/drawing/2014/main" id="{0050E121-92E9-41E9-BAC0-D34EE046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6735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Dashboard controls: change axial ratio to see how polarization mismatch reduces received power.</a:t>
            </a:r>
          </a:p>
        </p:txBody>
      </p:sp>
    </p:spTree>
    <p:extLst>
      <p:ext uri="{BB962C8B-B14F-4D97-AF65-F5344CB8AC3E}">
        <p14:creationId xmlns:p14="http://schemas.microsoft.com/office/powerpoint/2010/main" val="9170638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 LESSON 02  ·  POLARIZATION">
            <a:extLst xmlns:a="http://schemas.openxmlformats.org/drawingml/2006/main">
              <a:ext uri="{FF2B5EF4-FFF2-40B4-BE49-F238E27FC236}">
                <a16:creationId xmlns:a16="http://schemas.microsoft.com/office/drawing/2014/main" id="{02C90EE6-443D-48C7-9C97-5B4D0F98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2B541"/>
                </a:solidFill>
                <a:latin typeface="Segoe UI"/>
                <a:ea typeface="Segoe UI"/>
                <a:cs typeface="Segoe UI"/>
              </a:rPr>
              <a:t>LESSON 02  ·  POLARIZATION</a:t>
            </a:r>
          </a:p>
        </p:txBody>
      </p:sp>
      <p:sp>
        <p:nvSpPr>
          <p:cNvPr id="2" name="text Axial ratio puts a number on circul">
            <a:extLst xmlns:a="http://schemas.openxmlformats.org/drawingml/2006/main">
              <a:ext uri="{FF2B5EF4-FFF2-40B4-BE49-F238E27FC236}">
                <a16:creationId xmlns:a16="http://schemas.microsoft.com/office/drawing/2014/main" id="{F2C6DB19-6C31-4D7A-9830-42D073AA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7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Axial ratio puts a number on circularity</a:t>
            </a:r>
          </a:p>
        </p:txBody>
      </p:sp>
      <p:sp>
        <p:nvSpPr>
          <p:cNvPr id="3" name="text Lower axial ratio is closer to idea">
            <a:extLst xmlns:a="http://schemas.openxmlformats.org/drawingml/2006/main">
              <a:ext uri="{FF2B5EF4-FFF2-40B4-BE49-F238E27FC236}">
                <a16:creationId xmlns:a16="http://schemas.microsoft.com/office/drawing/2014/main" id="{1164FB99-8C1D-4515-8117-7E5A4AFA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Lower axial ratio is closer to ideal circular polarization.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43BFE-71F1-4CC7-9689-25C2F55B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6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5" name="text GNSS FRONT END  |  NCGSA VIRTUAL GN">
            <a:extLst xmlns:a="http://schemas.openxmlformats.org/drawingml/2006/main">
              <a:ext uri="{FF2B5EF4-FFF2-40B4-BE49-F238E27FC236}">
                <a16:creationId xmlns:a16="http://schemas.microsoft.com/office/drawing/2014/main" id="{D883EE36-48BD-4AF5-A8C2-7CB46908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81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GNSS FRONT END  |  NCGSA VIRTUAL GNSS LABORATORY</a:t>
            </a:r>
          </a:p>
        </p:txBody>
      </p:sp>
      <p:sp>
        <p:nvSpPr>
          <p:cNvPr id="6" name="text 07">
            <a:extLst xmlns:a="http://schemas.openxmlformats.org/drawingml/2006/main">
              <a:ext uri="{FF2B5EF4-FFF2-40B4-BE49-F238E27FC236}">
                <a16:creationId xmlns:a16="http://schemas.microsoft.com/office/drawing/2014/main" id="{D16FA3A7-126C-4D85-AE28-13B275C1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1F1F9-31A7-4DF8-8624-951D5FED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3190875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8" name="text 0 dB">
            <a:extLst xmlns:a="http://schemas.openxmlformats.org/drawingml/2006/main">
              <a:ext uri="{FF2B5EF4-FFF2-40B4-BE49-F238E27FC236}">
                <a16:creationId xmlns:a16="http://schemas.microsoft.com/office/drawing/2014/main" id="{5FF06FF4-BA8D-4CC6-8BD1-730DFCD3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29813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4C29A"/>
                </a:solidFill>
                <a:latin typeface="Segoe UI"/>
                <a:ea typeface="Segoe UI"/>
                <a:cs typeface="Segoe UI"/>
              </a:rPr>
              <a:t>0 dB</a:t>
            </a:r>
          </a:p>
        </p:txBody>
      </p:sp>
      <p:sp>
        <p:nvSpPr>
          <p:cNvPr id="9" name="text Ideal circular polarization">
            <a:extLst xmlns:a="http://schemas.openxmlformats.org/drawingml/2006/main">
              <a:ext uri="{FF2B5EF4-FFF2-40B4-BE49-F238E27FC236}">
                <a16:creationId xmlns:a16="http://schemas.microsoft.com/office/drawing/2014/main" id="{3CB05AAB-C9CF-4048-9C81-AC296996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29813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Ideal circular polarization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091879-9E88-4CEE-8AB4-A2945A3D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14550"/>
            <a:ext cx="3190875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1" name="text 3 dB">
            <a:extLst xmlns:a="http://schemas.openxmlformats.org/drawingml/2006/main">
              <a:ext uri="{FF2B5EF4-FFF2-40B4-BE49-F238E27FC236}">
                <a16:creationId xmlns:a16="http://schemas.microsoft.com/office/drawing/2014/main" id="{3F4934D1-688B-4F5E-BCA5-26D3CE1E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09800"/>
            <a:ext cx="29813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2B541"/>
                </a:solidFill>
                <a:latin typeface="Segoe UI"/>
                <a:ea typeface="Segoe UI"/>
                <a:cs typeface="Segoe UI"/>
              </a:rPr>
              <a:t>3 dB</a:t>
            </a:r>
          </a:p>
        </p:txBody>
      </p:sp>
      <p:sp>
        <p:nvSpPr>
          <p:cNvPr id="12" name="text Major/minor amplitude ≈ 1.41 : 1">
            <a:extLst xmlns:a="http://schemas.openxmlformats.org/drawingml/2006/main">
              <a:ext uri="{FF2B5EF4-FFF2-40B4-BE49-F238E27FC236}">
                <a16:creationId xmlns:a16="http://schemas.microsoft.com/office/drawing/2014/main" id="{674652A2-69C0-44B0-B78D-8BF9CE1D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00325"/>
            <a:ext cx="29813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Major/minor amplitude ≈ 1.41 :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68BA27-AB16-414F-BA0F-A3E2BD42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3190875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4" name="text 20 dB">
            <a:extLst xmlns:a="http://schemas.openxmlformats.org/drawingml/2006/main">
              <a:ext uri="{FF2B5EF4-FFF2-40B4-BE49-F238E27FC236}">
                <a16:creationId xmlns:a16="http://schemas.microsoft.com/office/drawing/2014/main" id="{5C0D163B-C2DE-4ADC-AFBB-52BD9476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209800"/>
            <a:ext cx="29813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E550A1"/>
                </a:solidFill>
                <a:latin typeface="Segoe UI"/>
                <a:ea typeface="Segoe UI"/>
                <a:cs typeface="Segoe UI"/>
              </a:rPr>
              <a:t>20 dB</a:t>
            </a:r>
          </a:p>
        </p:txBody>
      </p:sp>
      <p:sp>
        <p:nvSpPr>
          <p:cNvPr id="15" name="text Highly elliptical / nearly linear">
            <a:extLst xmlns:a="http://schemas.openxmlformats.org/drawingml/2006/main">
              <a:ext uri="{FF2B5EF4-FFF2-40B4-BE49-F238E27FC236}">
                <a16:creationId xmlns:a16="http://schemas.microsoft.com/office/drawing/2014/main" id="{4C64607F-76E1-4F49-B414-17D9E29D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00325"/>
            <a:ext cx="29813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Highly elliptical / nearly linear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8543A-100A-47AE-91BA-FBD38B66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9877425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7" name="text AR(dB) = 20 log₁₀ (Emajor / Eminor)">
            <a:extLst xmlns:a="http://schemas.openxmlformats.org/drawingml/2006/main">
              <a:ext uri="{FF2B5EF4-FFF2-40B4-BE49-F238E27FC236}">
                <a16:creationId xmlns:a16="http://schemas.microsoft.com/office/drawing/2014/main" id="{4AAE3AA1-53C1-416F-86D6-5CC69393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00525"/>
            <a:ext cx="908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AR(dB) = 20 log₁₀ (Emajor / Eminor)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93A714-18F6-443B-9D4E-D34D6F74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10915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910CE5-3D76-4286-914A-816BB78F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381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8D4"/>
          </a:solidFill>
          <a:ln xmlns:a="http://schemas.openxmlformats.org/drawingml/2006/main" w="0">
            <a:solidFill>
              <a:srgbClr val="26B8D4"/>
            </a:solidFill>
            <a:prstDash val="solid"/>
          </a:ln>
        </p:spPr>
      </p:sp>
      <p:sp>
        <p:nvSpPr>
          <p:cNvPr id="20" name="text In the dashboard’s ideal same-hande">
            <a:extLst xmlns:a="http://schemas.openxmlformats.org/drawingml/2006/main">
              <a:ext uri="{FF2B5EF4-FFF2-40B4-BE49-F238E27FC236}">
                <a16:creationId xmlns:a16="http://schemas.microsoft.com/office/drawing/2014/main" id="{1A3CA79E-2A4A-4D02-A29D-F3843669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1497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In the dashboard’s ideal same-handed circular-wave example, AR = 3 dB adds ≈ 0.125 dB loss.</a:t>
            </a:r>
          </a:p>
        </p:txBody>
      </p:sp>
    </p:spTree>
    <p:extLst>
      <p:ext uri="{BB962C8B-B14F-4D97-AF65-F5344CB8AC3E}">
        <p14:creationId xmlns:p14="http://schemas.microsoft.com/office/powerpoint/2010/main" val="8425417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 LESSON 02  ·  RECEIVED POWER">
            <a:extLst xmlns:a="http://schemas.openxmlformats.org/drawingml/2006/main">
              <a:ext uri="{FF2B5EF4-FFF2-40B4-BE49-F238E27FC236}">
                <a16:creationId xmlns:a16="http://schemas.microsoft.com/office/drawing/2014/main" id="{610284C2-6305-45C2-9326-14CE3B2B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2B541"/>
                </a:solidFill>
                <a:latin typeface="Segoe UI"/>
                <a:ea typeface="Segoe UI"/>
                <a:cs typeface="Segoe UI"/>
              </a:rPr>
              <a:t>LESSON 02  ·  RECEIVED POWER</a:t>
            </a:r>
          </a:p>
        </p:txBody>
      </p:sp>
      <p:sp>
        <p:nvSpPr>
          <p:cNvPr id="2" name="text An illustrative GPS L1 link budget">
            <a:extLst xmlns:a="http://schemas.openxmlformats.org/drawingml/2006/main">
              <a:ext uri="{FF2B5EF4-FFF2-40B4-BE49-F238E27FC236}">
                <a16:creationId xmlns:a16="http://schemas.microsoft.com/office/drawing/2014/main" id="{5764122F-CA06-4AA9-9A80-DAC5849C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7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An illustrative GPS L1 link budget</a:t>
            </a:r>
          </a:p>
        </p:txBody>
      </p:sp>
      <p:sp>
        <p:nvSpPr>
          <p:cNvPr id="3" name="text Long range and free-space spreading">
            <a:extLst xmlns:a="http://schemas.openxmlformats.org/drawingml/2006/main">
              <a:ext uri="{FF2B5EF4-FFF2-40B4-BE49-F238E27FC236}">
                <a16:creationId xmlns:a16="http://schemas.microsoft.com/office/drawing/2014/main" id="{16865FC1-2697-43CA-BE3D-485A3717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Long range and free-space spreading explain why receiver signals are so weak.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E5AA5-2418-4952-8EC6-18AEA423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6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5" name="text GNSS FRONT END  |  NCGSA VIRTUAL GN">
            <a:extLst xmlns:a="http://schemas.openxmlformats.org/drawingml/2006/main">
              <a:ext uri="{FF2B5EF4-FFF2-40B4-BE49-F238E27FC236}">
                <a16:creationId xmlns:a16="http://schemas.microsoft.com/office/drawing/2014/main" id="{A45B5BD4-832B-4E82-9F1D-AAD0AE81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81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GNSS FRONT END  |  NCGSA VIRTUAL GNSS LABORATORY</a:t>
            </a:r>
          </a:p>
        </p:txBody>
      </p:sp>
      <p:sp>
        <p:nvSpPr>
          <p:cNvPr id="6" name="text 08">
            <a:extLst xmlns:a="http://schemas.openxmlformats.org/drawingml/2006/main">
              <a:ext uri="{FF2B5EF4-FFF2-40B4-BE49-F238E27FC236}">
                <a16:creationId xmlns:a16="http://schemas.microsoft.com/office/drawing/2014/main" id="{4D532789-9F46-406F-9105-8DC1369C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D6152-8FE8-4325-A571-18E11F81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552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8" name="text 27 W">
            <a:extLst xmlns:a="http://schemas.openxmlformats.org/drawingml/2006/main">
              <a:ext uri="{FF2B5EF4-FFF2-40B4-BE49-F238E27FC236}">
                <a16:creationId xmlns:a16="http://schemas.microsoft.com/office/drawing/2014/main" id="{54DBE25B-979F-40BD-83CF-A844C77B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2343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6B8D4"/>
                </a:solidFill>
                <a:latin typeface="Segoe UI"/>
                <a:ea typeface="Segoe UI"/>
                <a:cs typeface="Segoe UI"/>
              </a:rPr>
              <a:t>27 W</a:t>
            </a:r>
          </a:p>
        </p:txBody>
      </p:sp>
      <p:sp>
        <p:nvSpPr>
          <p:cNvPr id="9" name="text Transmit power">
            <a:extLst xmlns:a="http://schemas.openxmlformats.org/drawingml/2006/main">
              <a:ext uri="{FF2B5EF4-FFF2-40B4-BE49-F238E27FC236}">
                <a16:creationId xmlns:a16="http://schemas.microsoft.com/office/drawing/2014/main" id="{8AA7548C-C8EE-4EA1-A89E-EC68871A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24150"/>
            <a:ext cx="23431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Transmit power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3F468-76DE-4134-81FD-148302FC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38375"/>
            <a:ext cx="2552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1" name="text 13 dBi">
            <a:extLst xmlns:a="http://schemas.openxmlformats.org/drawingml/2006/main">
              <a:ext uri="{FF2B5EF4-FFF2-40B4-BE49-F238E27FC236}">
                <a16:creationId xmlns:a16="http://schemas.microsoft.com/office/drawing/2014/main" id="{52943B35-72E6-47CE-816F-AF849E0B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33625"/>
            <a:ext cx="2343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A37AE8"/>
                </a:solidFill>
                <a:latin typeface="Segoe UI"/>
                <a:ea typeface="Segoe UI"/>
                <a:cs typeface="Segoe UI"/>
              </a:rPr>
              <a:t>13 dBi</a:t>
            </a:r>
          </a:p>
        </p:txBody>
      </p:sp>
      <p:sp>
        <p:nvSpPr>
          <p:cNvPr id="12" name="text Transmit antenna gain">
            <a:extLst xmlns:a="http://schemas.openxmlformats.org/drawingml/2006/main">
              <a:ext uri="{FF2B5EF4-FFF2-40B4-BE49-F238E27FC236}">
                <a16:creationId xmlns:a16="http://schemas.microsoft.com/office/drawing/2014/main" id="{F7D4CD1E-A385-4D7E-BC89-59843F08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724150"/>
            <a:ext cx="23431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Transmit antenna gain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42254E-753C-4AA2-8754-24DB0B8A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38375"/>
            <a:ext cx="2552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4" name="text 20,200 km">
            <a:extLst xmlns:a="http://schemas.openxmlformats.org/drawingml/2006/main">
              <a:ext uri="{FF2B5EF4-FFF2-40B4-BE49-F238E27FC236}">
                <a16:creationId xmlns:a16="http://schemas.microsoft.com/office/drawing/2014/main" id="{E23C4EF6-6990-485D-AB4E-23DB64B1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33625"/>
            <a:ext cx="2343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2B541"/>
                </a:solidFill>
                <a:latin typeface="Segoe UI"/>
                <a:ea typeface="Segoe UI"/>
                <a:cs typeface="Segoe UI"/>
              </a:rPr>
              <a:t>20,200 km</a:t>
            </a:r>
          </a:p>
        </p:txBody>
      </p:sp>
      <p:sp>
        <p:nvSpPr>
          <p:cNvPr id="15" name="text Slant range">
            <a:extLst xmlns:a="http://schemas.openxmlformats.org/drawingml/2006/main">
              <a:ext uri="{FF2B5EF4-FFF2-40B4-BE49-F238E27FC236}">
                <a16:creationId xmlns:a16="http://schemas.microsoft.com/office/drawing/2014/main" id="{C38EFE63-9DC7-4922-B671-536A625D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724150"/>
            <a:ext cx="23431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Slant range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72F13-C4EC-471F-B078-F651E81F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38375"/>
            <a:ext cx="2552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7" name="text 0 dBi">
            <a:extLst xmlns:a="http://schemas.openxmlformats.org/drawingml/2006/main">
              <a:ext uri="{FF2B5EF4-FFF2-40B4-BE49-F238E27FC236}">
                <a16:creationId xmlns:a16="http://schemas.microsoft.com/office/drawing/2014/main" id="{A8347E44-FC79-4E15-8032-38B0EB20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333625"/>
            <a:ext cx="2343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4C29A"/>
                </a:solidFill>
                <a:latin typeface="Segoe UI"/>
                <a:ea typeface="Segoe UI"/>
                <a:cs typeface="Segoe UI"/>
              </a:rPr>
              <a:t>0 dBi</a:t>
            </a:r>
          </a:p>
        </p:txBody>
      </p:sp>
      <p:sp>
        <p:nvSpPr>
          <p:cNvPr id="18" name="text Receive antenna gain">
            <a:extLst xmlns:a="http://schemas.openxmlformats.org/drawingml/2006/main">
              <a:ext uri="{FF2B5EF4-FFF2-40B4-BE49-F238E27FC236}">
                <a16:creationId xmlns:a16="http://schemas.microsoft.com/office/drawing/2014/main" id="{7DCEB3FF-19D1-4FBC-BAB2-D0FE70A1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724150"/>
            <a:ext cx="23431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Receive antenna gain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836ACF-6D7A-4B20-85BB-BE634ECB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963275" cy="1266825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20" name="text Received L1 power ≈ −157.69 dBW = −">
            <a:extLst xmlns:a="http://schemas.openxmlformats.org/drawingml/2006/main">
              <a:ext uri="{FF2B5EF4-FFF2-40B4-BE49-F238E27FC236}">
                <a16:creationId xmlns:a16="http://schemas.microsoft.com/office/drawing/2014/main" id="{20D2EBBB-F797-4F46-B120-ACE4EB57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4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4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4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4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4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4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4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4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4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Received L1 power ≈ −157.69 dBW = −127.69 dBm</a:t>
            </a:r>
          </a:p>
        </p:txBody>
      </p:sp>
      <p:sp>
        <p:nvSpPr>
          <p:cNvPr id="21" name="text Use the dashboard to inspect wavele">
            <a:extLst xmlns:a="http://schemas.openxmlformats.org/drawingml/2006/main">
              <a:ext uri="{FF2B5EF4-FFF2-40B4-BE49-F238E27FC236}">
                <a16:creationId xmlns:a16="http://schemas.microsoft.com/office/drawing/2014/main" id="{E8D98E41-2FCC-4AA6-921D-AF3CFADD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10039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Use the dashboard to inspect wavelength (≈ 0.1903 m) and effective area.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F51D1E-8B2A-426E-B657-C1410B18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72100"/>
            <a:ext cx="10915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417BEF-746F-416D-AC80-FF7DA6F2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72100"/>
            <a:ext cx="381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24" name="text The link budget is a teaching examp">
            <a:extLst xmlns:a="http://schemas.openxmlformats.org/drawingml/2006/main">
              <a:ext uri="{FF2B5EF4-FFF2-40B4-BE49-F238E27FC236}">
                <a16:creationId xmlns:a16="http://schemas.microsoft.com/office/drawing/2014/main" id="{D7C459CA-F6B7-4D87-8381-5576FE5F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483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The link budget is a teaching example; measured C/N₀ also depends on the antenna, environment and receiver.</a:t>
            </a:r>
          </a:p>
        </p:txBody>
      </p:sp>
    </p:spTree>
    <p:extLst>
      <p:ext uri="{BB962C8B-B14F-4D97-AF65-F5344CB8AC3E}">
        <p14:creationId xmlns:p14="http://schemas.microsoft.com/office/powerpoint/2010/main" val="3519631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 LESSON 03  ·  WEAK SIGNALS">
            <a:extLst xmlns:a="http://schemas.openxmlformats.org/drawingml/2006/main">
              <a:ext uri="{FF2B5EF4-FFF2-40B4-BE49-F238E27FC236}">
                <a16:creationId xmlns:a16="http://schemas.microsoft.com/office/drawing/2014/main" id="{F77D216F-5CF9-4E65-8DB6-5506B3F2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4C29A"/>
                </a:solidFill>
                <a:latin typeface="Segoe UI"/>
                <a:ea typeface="Segoe UI"/>
                <a:cs typeface="Segoe UI"/>
              </a:rPr>
              <a:t>LESSON 03  ·  WEAK SIGNALS</a:t>
            </a:r>
          </a:p>
        </p:txBody>
      </p:sp>
      <p:sp>
        <p:nvSpPr>
          <p:cNvPr id="2" name="text Why GPS signals look like noise bef">
            <a:extLst xmlns:a="http://schemas.openxmlformats.org/drawingml/2006/main">
              <a:ext uri="{FF2B5EF4-FFF2-40B4-BE49-F238E27FC236}">
                <a16:creationId xmlns:a16="http://schemas.microsoft.com/office/drawing/2014/main" id="{BBBB4620-47B5-47F1-9F6B-899709AB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7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Why GPS signals look like noise before correlation</a:t>
            </a:r>
          </a:p>
        </p:txBody>
      </p:sp>
      <p:sp>
        <p:nvSpPr>
          <p:cNvPr id="3" name="text Wideband thermal noise can dwarf in">
            <a:extLst xmlns:a="http://schemas.openxmlformats.org/drawingml/2006/main">
              <a:ext uri="{FF2B5EF4-FFF2-40B4-BE49-F238E27FC236}">
                <a16:creationId xmlns:a16="http://schemas.microsoft.com/office/drawing/2014/main" id="{5867BBE9-D688-463B-B122-94B6FDD7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Wideband thermal noise can dwarf instantaneous signal power.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3A954-8DF8-44F5-9558-7247C910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6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5" name="text GNSS FRONT END  |  NCGSA VIRTUAL GN">
            <a:extLst xmlns:a="http://schemas.openxmlformats.org/drawingml/2006/main">
              <a:ext uri="{FF2B5EF4-FFF2-40B4-BE49-F238E27FC236}">
                <a16:creationId xmlns:a16="http://schemas.microsoft.com/office/drawing/2014/main" id="{5EB77927-4335-4814-A6F2-E9295122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81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GNSS FRONT END  |  NCGSA VIRTUAL GNSS LABORATORY</a:t>
            </a:r>
          </a:p>
        </p:txBody>
      </p:sp>
      <p:sp>
        <p:nvSpPr>
          <p:cNvPr id="6" name="text 09">
            <a:extLst xmlns:a="http://schemas.openxmlformats.org/drawingml/2006/main">
              <a:ext uri="{FF2B5EF4-FFF2-40B4-BE49-F238E27FC236}">
                <a16:creationId xmlns:a16="http://schemas.microsoft.com/office/drawing/2014/main" id="{266E5594-CE27-4F50-894B-707BC3CC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44109-FB43-40EC-B806-03CD46E0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6953250" cy="2962275"/>
          </a:xfrm>
          <a:prstGeom xmlns:a="http://schemas.openxmlformats.org/drawingml/2006/main" prst="roundRect">
            <a:avLst>
              <a:gd name="adj" fmla="val 2894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8" name="text THERMAL NOISE FLOOR">
            <a:extLst xmlns:a="http://schemas.openxmlformats.org/drawingml/2006/main">
              <a:ext uri="{FF2B5EF4-FFF2-40B4-BE49-F238E27FC236}">
                <a16:creationId xmlns:a16="http://schemas.microsoft.com/office/drawing/2014/main" id="{2A60EF2F-4E56-4BEE-BDF0-E471E70C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52675"/>
            <a:ext cx="6086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6B8D4"/>
                </a:solidFill>
                <a:latin typeface="Segoe UI"/>
                <a:ea typeface="Segoe UI"/>
                <a:cs typeface="Segoe UI"/>
              </a:rPr>
              <a:t>THERMAL NOISE FLOOR</a:t>
            </a:r>
          </a:p>
        </p:txBody>
      </p:sp>
      <p:sp>
        <p:nvSpPr>
          <p:cNvPr id="9" name="text N = k T B">
            <a:extLst xmlns:a="http://schemas.openxmlformats.org/drawingml/2006/main">
              <a:ext uri="{FF2B5EF4-FFF2-40B4-BE49-F238E27FC236}">
                <a16:creationId xmlns:a16="http://schemas.microsoft.com/office/drawing/2014/main" id="{C8F80856-2C77-42A2-8828-5F04504B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598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5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35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35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35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35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35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35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35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35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35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35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352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N = k T B</a:t>
            </a:r>
          </a:p>
        </p:txBody>
      </p:sp>
      <p:sp>
        <p:nvSpPr>
          <p:cNvPr id="10" name="text Temperature × bandwidth sets admitt">
            <a:extLst xmlns:a="http://schemas.openxmlformats.org/drawingml/2006/main">
              <a:ext uri="{FF2B5EF4-FFF2-40B4-BE49-F238E27FC236}">
                <a16:creationId xmlns:a16="http://schemas.microsoft.com/office/drawing/2014/main" id="{7AD7FEC5-5053-492F-893C-84C9DDA1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5972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1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1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1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1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1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1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1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1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1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Temperature × bandwidth sets admitted noise.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A7DE2-3741-4D7E-84A4-1896F6B1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162175"/>
            <a:ext cx="349567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2" name="text 290 K">
            <a:extLst xmlns:a="http://schemas.openxmlformats.org/drawingml/2006/main">
              <a:ext uri="{FF2B5EF4-FFF2-40B4-BE49-F238E27FC236}">
                <a16:creationId xmlns:a16="http://schemas.microsoft.com/office/drawing/2014/main" id="{A480D6B9-883A-4D5C-955D-D54649D4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57425"/>
            <a:ext cx="3286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2B541"/>
                </a:solidFill>
                <a:latin typeface="Segoe UI"/>
                <a:ea typeface="Segoe UI"/>
                <a:cs typeface="Segoe UI"/>
              </a:rPr>
              <a:t>290 K</a:t>
            </a:r>
          </a:p>
        </p:txBody>
      </p:sp>
      <p:sp>
        <p:nvSpPr>
          <p:cNvPr id="13" name="text Reference temperature">
            <a:extLst xmlns:a="http://schemas.openxmlformats.org/drawingml/2006/main">
              <a:ext uri="{FF2B5EF4-FFF2-40B4-BE49-F238E27FC236}">
                <a16:creationId xmlns:a16="http://schemas.microsoft.com/office/drawing/2014/main" id="{DC851117-4CCA-4C3F-AECE-FAECD27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47950"/>
            <a:ext cx="3286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Reference temperature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D94A2-D402-4DA5-A99F-C90AA9B5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743325"/>
            <a:ext cx="3495675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5" name="text 2 MHz">
            <a:extLst xmlns:a="http://schemas.openxmlformats.org/drawingml/2006/main">
              <a:ext uri="{FF2B5EF4-FFF2-40B4-BE49-F238E27FC236}">
                <a16:creationId xmlns:a16="http://schemas.microsoft.com/office/drawing/2014/main" id="{50595F3F-DA34-4141-897D-77091D3E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38575"/>
            <a:ext cx="3286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4C29A"/>
                </a:solidFill>
                <a:latin typeface="Segoe UI"/>
                <a:ea typeface="Segoe UI"/>
                <a:cs typeface="Segoe UI"/>
              </a:rPr>
              <a:t>2 MHz</a:t>
            </a:r>
          </a:p>
        </p:txBody>
      </p:sp>
      <p:sp>
        <p:nvSpPr>
          <p:cNvPr id="16" name="text Example noise bandwidth">
            <a:extLst xmlns:a="http://schemas.openxmlformats.org/drawingml/2006/main">
              <a:ext uri="{FF2B5EF4-FFF2-40B4-BE49-F238E27FC236}">
                <a16:creationId xmlns:a16="http://schemas.microsoft.com/office/drawing/2014/main" id="{4DB07B68-3FA2-4E79-9F3E-6DBBA04D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29100"/>
            <a:ext cx="3286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Example noise bandwidth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8A0A5A-0A97-4B4C-B0DA-28D037E2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10915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B7FD1A-8587-4304-AED9-9C2A0A03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381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8D4"/>
          </a:solidFill>
          <a:ln xmlns:a="http://schemas.openxmlformats.org/drawingml/2006/main" w="0">
            <a:solidFill>
              <a:srgbClr val="26B8D4"/>
            </a:solidFill>
            <a:prstDash val="solid"/>
          </a:ln>
        </p:spPr>
      </p:sp>
      <p:sp>
        <p:nvSpPr>
          <p:cNvPr id="19" name="text At B = 2 MHz and 290 K, thermal noi">
            <a:extLst xmlns:a="http://schemas.openxmlformats.org/drawingml/2006/main">
              <a:ext uri="{FF2B5EF4-FFF2-40B4-BE49-F238E27FC236}">
                <a16:creationId xmlns:a16="http://schemas.microsoft.com/office/drawing/2014/main" id="{502DD79B-AD19-40FB-A19F-FE040BE5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0545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At B = 2 MHz and 290 K, thermal noise is about −110.96 dBm.</a:t>
            </a:r>
          </a:p>
        </p:txBody>
      </p:sp>
    </p:spTree>
    <p:extLst>
      <p:ext uri="{BB962C8B-B14F-4D97-AF65-F5344CB8AC3E}">
        <p14:creationId xmlns:p14="http://schemas.microsoft.com/office/powerpoint/2010/main" val="17085594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 LESSON 03  ·  NOISE METRICS">
            <a:extLst xmlns:a="http://schemas.openxmlformats.org/drawingml/2006/main">
              <a:ext uri="{FF2B5EF4-FFF2-40B4-BE49-F238E27FC236}">
                <a16:creationId xmlns:a16="http://schemas.microsoft.com/office/drawing/2014/main" id="{BFE97BD0-7183-45E5-9E62-080D4435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4C29A"/>
                </a:solidFill>
                <a:latin typeface="Segoe UI"/>
                <a:ea typeface="Segoe UI"/>
                <a:cs typeface="Segoe UI"/>
              </a:rPr>
              <a:t>LESSON 03  ·  NOISE METRICS</a:t>
            </a:r>
          </a:p>
        </p:txBody>
      </p:sp>
      <p:sp>
        <p:nvSpPr>
          <p:cNvPr id="2" name="text C/N₀ and SNR are different measurem">
            <a:extLst xmlns:a="http://schemas.openxmlformats.org/drawingml/2006/main">
              <a:ext uri="{FF2B5EF4-FFF2-40B4-BE49-F238E27FC236}">
                <a16:creationId xmlns:a16="http://schemas.microsoft.com/office/drawing/2014/main" id="{DE078FDA-4F1E-4A54-AB98-91A0CB3A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7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C/N₀ and SNR are different measurements</a:t>
            </a:r>
          </a:p>
        </p:txBody>
      </p:sp>
      <p:sp>
        <p:nvSpPr>
          <p:cNvPr id="3" name="text C/N₀ uses noise spectral density; S">
            <a:extLst xmlns:a="http://schemas.openxmlformats.org/drawingml/2006/main">
              <a:ext uri="{FF2B5EF4-FFF2-40B4-BE49-F238E27FC236}">
                <a16:creationId xmlns:a16="http://schemas.microsoft.com/office/drawing/2014/main" id="{69AB8A0A-156C-4D33-818A-07BAC85B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C/N₀ uses noise spectral density; SNR depends on chosen bandwidth.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51B05-521F-4FF4-AD48-8A7E58D4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6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5" name="text GNSS FRONT END  |  NCGSA VIRTUAL GN">
            <a:extLst xmlns:a="http://schemas.openxmlformats.org/drawingml/2006/main">
              <a:ext uri="{FF2B5EF4-FFF2-40B4-BE49-F238E27FC236}">
                <a16:creationId xmlns:a16="http://schemas.microsoft.com/office/drawing/2014/main" id="{60523353-B701-473A-BC80-BEC6EED1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81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GNSS FRONT END  |  NCGSA VIRTUAL GNSS LABORATORY</a:t>
            </a:r>
          </a:p>
        </p:txBody>
      </p:sp>
      <p:sp>
        <p:nvSpPr>
          <p:cNvPr id="6" name="text 10">
            <a:extLst xmlns:a="http://schemas.openxmlformats.org/drawingml/2006/main">
              <a:ext uri="{FF2B5EF4-FFF2-40B4-BE49-F238E27FC236}">
                <a16:creationId xmlns:a16="http://schemas.microsoft.com/office/drawing/2014/main" id="{1707B784-9E00-456B-A100-5C991CD8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95D39-F79B-4010-B8F6-AD4B908D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029200" cy="2590800"/>
          </a:xfrm>
          <a:prstGeom xmlns:a="http://schemas.openxmlformats.org/drawingml/2006/main" prst="roundRect">
            <a:avLst>
              <a:gd name="adj" fmla="val 3676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EAB84-3B1F-420F-9C92-98CFAA7A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47625" cy="259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8D4"/>
          </a:solidFill>
          <a:ln xmlns:a="http://schemas.openxmlformats.org/drawingml/2006/main" w="0">
            <a:solidFill>
              <a:srgbClr val="26B8D4"/>
            </a:solidFill>
            <a:prstDash val="solid"/>
          </a:ln>
        </p:spPr>
      </p:sp>
      <p:sp>
        <p:nvSpPr>
          <p:cNvPr id="9" name="text C/N₀">
            <a:extLst xmlns:a="http://schemas.openxmlformats.org/drawingml/2006/main">
              <a:ext uri="{FF2B5EF4-FFF2-40B4-BE49-F238E27FC236}">
                <a16:creationId xmlns:a16="http://schemas.microsoft.com/office/drawing/2014/main" id="{1EB91B8D-C225-4556-94A7-C4207D03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461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6B8D4"/>
                </a:solidFill>
                <a:latin typeface="Segoe UI"/>
                <a:ea typeface="Segoe UI"/>
                <a:cs typeface="Segoe UI"/>
              </a:rPr>
              <a:t>C/N₀</a:t>
            </a:r>
          </a:p>
        </p:txBody>
      </p:sp>
      <p:sp>
        <p:nvSpPr>
          <p:cNvPr id="10" name="text Carrier-to-noise-density ratio, rep">
            <a:extLst xmlns:a="http://schemas.openxmlformats.org/drawingml/2006/main">
              <a:ext uri="{FF2B5EF4-FFF2-40B4-BE49-F238E27FC236}">
                <a16:creationId xmlns:a16="http://schemas.microsoft.com/office/drawing/2014/main" id="{0E72AFD8-13FA-4BF6-9BEA-36ABB147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4619625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Carrier-to-noise-density ratio, reported in dB-Hz. A common receiver signal-quality metric.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9C676-71E5-4470-8730-926A824E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266950"/>
            <a:ext cx="5362575" cy="2590800"/>
          </a:xfrm>
          <a:prstGeom xmlns:a="http://schemas.openxmlformats.org/drawingml/2006/main" prst="roundRect">
            <a:avLst>
              <a:gd name="adj" fmla="val 3676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07C4DC-5CAD-453A-8F02-F39DE411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266950"/>
            <a:ext cx="47625" cy="259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13" name="text SNR in bandwidth B">
            <a:extLst xmlns:a="http://schemas.openxmlformats.org/drawingml/2006/main">
              <a:ext uri="{FF2B5EF4-FFF2-40B4-BE49-F238E27FC236}">
                <a16:creationId xmlns:a16="http://schemas.microsoft.com/office/drawing/2014/main" id="{0A0D145E-1DCF-4B9D-900A-003A874A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38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2B541"/>
                </a:solidFill>
                <a:latin typeface="Segoe UI"/>
                <a:ea typeface="Segoe UI"/>
                <a:cs typeface="Segoe UI"/>
              </a:rPr>
              <a:t>SNR in bandwidth B</a:t>
            </a:r>
          </a:p>
        </p:txBody>
      </p:sp>
      <p:sp>
        <p:nvSpPr>
          <p:cNvPr id="14" name="text SNR(dB) = C/N₀(dB-Hz) − 10log₁₀ B(H">
            <a:extLst xmlns:a="http://schemas.openxmlformats.org/drawingml/2006/main">
              <a:ext uri="{FF2B5EF4-FFF2-40B4-BE49-F238E27FC236}">
                <a16:creationId xmlns:a16="http://schemas.microsoft.com/office/drawing/2014/main" id="{B6E1C793-BEA7-4C72-A282-0A0F1519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76550"/>
            <a:ext cx="495300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SNR(dB) = C/N₀(dB-Hz) − 10log₁₀ B(Hz)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3CFE54-C57E-4425-9457-0E6AE708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43500"/>
            <a:ext cx="102679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6" name="text Example: C/N₀ ≈ 43.98 dB-Hz  →  SNR">
            <a:extLst xmlns:a="http://schemas.openxmlformats.org/drawingml/2006/main">
              <a:ext uri="{FF2B5EF4-FFF2-40B4-BE49-F238E27FC236}">
                <a16:creationId xmlns:a16="http://schemas.microsoft.com/office/drawing/2014/main" id="{2BCC22D9-2CF4-4F6E-916E-849FA980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67325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7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7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7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7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7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7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7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7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7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Example: C/N₀ ≈ 43.98 dB-Hz  →  SNR ≈ −19.04 dB in 2 MHz.</a:t>
            </a:r>
          </a:p>
        </p:txBody>
      </p:sp>
    </p:spTree>
    <p:extLst>
      <p:ext uri="{BB962C8B-B14F-4D97-AF65-F5344CB8AC3E}">
        <p14:creationId xmlns:p14="http://schemas.microsoft.com/office/powerpoint/2010/main" val="19424097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 LESSON 03  ·  SENSITIVITY">
            <a:extLst xmlns:a="http://schemas.openxmlformats.org/drawingml/2006/main">
              <a:ext uri="{FF2B5EF4-FFF2-40B4-BE49-F238E27FC236}">
                <a16:creationId xmlns:a16="http://schemas.microsoft.com/office/drawing/2014/main" id="{2DA083AD-35E0-4BEA-BBDA-120E8D7C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4C29A"/>
                </a:solidFill>
                <a:latin typeface="Segoe UI"/>
                <a:ea typeface="Segoe UI"/>
                <a:cs typeface="Segoe UI"/>
              </a:rPr>
              <a:t>LESSON 03  ·  SENSITIVITY</a:t>
            </a:r>
          </a:p>
        </p:txBody>
      </p:sp>
      <p:sp>
        <p:nvSpPr>
          <p:cNvPr id="2" name="text Place low-noise gain before avoidab">
            <a:extLst xmlns:a="http://schemas.openxmlformats.org/drawingml/2006/main">
              <a:ext uri="{FF2B5EF4-FFF2-40B4-BE49-F238E27FC236}">
                <a16:creationId xmlns:a16="http://schemas.microsoft.com/office/drawing/2014/main" id="{0E2E5417-EB56-4682-A350-D523BE07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7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Place low-noise gain before avoidable losses</a:t>
            </a:r>
          </a:p>
        </p:txBody>
      </p:sp>
      <p:sp>
        <p:nvSpPr>
          <p:cNvPr id="3" name="text The Friis noise-factor cascade weig">
            <a:extLst xmlns:a="http://schemas.openxmlformats.org/drawingml/2006/main">
              <a:ext uri="{FF2B5EF4-FFF2-40B4-BE49-F238E27FC236}">
                <a16:creationId xmlns:a16="http://schemas.microsoft.com/office/drawing/2014/main" id="{0D26AAD6-A40D-4E98-A64D-B66EBBD9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The Friis noise-factor cascade weights later noise by preceding gain.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81865-46E7-4B72-9C0E-9E387C22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6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5" name="text GNSS FRONT END  |  NCGSA VIRTUAL GN">
            <a:extLst xmlns:a="http://schemas.openxmlformats.org/drawingml/2006/main">
              <a:ext uri="{FF2B5EF4-FFF2-40B4-BE49-F238E27FC236}">
                <a16:creationId xmlns:a16="http://schemas.microsoft.com/office/drawing/2014/main" id="{69F84455-7644-4FDD-996C-2DB58248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81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GNSS FRONT END  |  NCGSA VIRTUAL GNSS LABORATORY</a:t>
            </a:r>
          </a:p>
        </p:txBody>
      </p:sp>
      <p:sp>
        <p:nvSpPr>
          <p:cNvPr id="6" name="text 11">
            <a:extLst xmlns:a="http://schemas.openxmlformats.org/drawingml/2006/main">
              <a:ext uri="{FF2B5EF4-FFF2-40B4-BE49-F238E27FC236}">
                <a16:creationId xmlns:a16="http://schemas.microsoft.com/office/drawing/2014/main" id="{3358C20C-2FD3-419F-9D49-80CEFDBB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B0352-C12A-41EB-85EF-F419C371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52650"/>
            <a:ext cx="10677525" cy="1095375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8" name="text Ftotal = F₁ + (F₂−1)/G₁ + (F₃−1)/(G">
            <a:extLst xmlns:a="http://schemas.openxmlformats.org/drawingml/2006/main">
              <a:ext uri="{FF2B5EF4-FFF2-40B4-BE49-F238E27FC236}">
                <a16:creationId xmlns:a16="http://schemas.microsoft.com/office/drawing/2014/main" id="{2C4EA1BC-C9E2-4FE4-BE43-77A7F872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99726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3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3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3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3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3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3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3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3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3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Ftotal = F₁ + (F₂−1)/G₁ + (F₃−1)/(G₁G₂) + 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F7B10-8958-44D3-8298-657F037E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5029200" cy="1504950"/>
          </a:xfrm>
          <a:prstGeom xmlns:a="http://schemas.openxmlformats.org/drawingml/2006/main" prst="roundRect">
            <a:avLst>
              <a:gd name="adj" fmla="val 6329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04F9C-2B9C-49D1-9E1F-9B9DB75C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47625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11" name="text Better chain">
            <a:extLst xmlns:a="http://schemas.openxmlformats.org/drawingml/2006/main">
              <a:ext uri="{FF2B5EF4-FFF2-40B4-BE49-F238E27FC236}">
                <a16:creationId xmlns:a16="http://schemas.microsoft.com/office/drawing/2014/main" id="{44183031-89DE-4685-ABA5-85CF205A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461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24C29A"/>
                </a:solidFill>
                <a:latin typeface="Segoe UI"/>
                <a:ea typeface="Segoe UI"/>
                <a:cs typeface="Segoe UI"/>
              </a:rPr>
              <a:t>Better chain</a:t>
            </a:r>
          </a:p>
        </p:txBody>
      </p:sp>
      <p:sp>
        <p:nvSpPr>
          <p:cNvPr id="12" name="text ANTENNA → LNA → LOSSY CABLE">
            <a:extLst xmlns:a="http://schemas.openxmlformats.org/drawingml/2006/main">
              <a:ext uri="{FF2B5EF4-FFF2-40B4-BE49-F238E27FC236}">
                <a16:creationId xmlns:a16="http://schemas.microsoft.com/office/drawing/2014/main" id="{58049BB6-A29D-4435-AB97-E8322B3A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4619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ANTENNA → LNA → LOSSY CABLE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4B3894-7F6F-4E77-A7BE-41EF0311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638550"/>
            <a:ext cx="5172075" cy="1504950"/>
          </a:xfrm>
          <a:prstGeom xmlns:a="http://schemas.openxmlformats.org/drawingml/2006/main" prst="roundRect">
            <a:avLst>
              <a:gd name="adj" fmla="val 6329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6CF32-95D3-44A3-813A-3DAF3914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638550"/>
            <a:ext cx="47625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50A1"/>
          </a:solidFill>
          <a:ln xmlns:a="http://schemas.openxmlformats.org/drawingml/2006/main" w="0">
            <a:solidFill>
              <a:srgbClr val="E550A1"/>
            </a:solidFill>
            <a:prstDash val="solid"/>
          </a:ln>
        </p:spPr>
      </p:sp>
      <p:sp>
        <p:nvSpPr>
          <p:cNvPr id="15" name="text Worse chain">
            <a:extLst xmlns:a="http://schemas.openxmlformats.org/drawingml/2006/main">
              <a:ext uri="{FF2B5EF4-FFF2-40B4-BE49-F238E27FC236}">
                <a16:creationId xmlns:a16="http://schemas.microsoft.com/office/drawing/2014/main" id="{44CA04F2-383F-4368-ACA5-C935469F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810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E550A1"/>
                </a:solidFill>
                <a:latin typeface="Segoe UI"/>
                <a:ea typeface="Segoe UI"/>
                <a:cs typeface="Segoe UI"/>
              </a:rPr>
              <a:t>Worse chain</a:t>
            </a:r>
          </a:p>
        </p:txBody>
      </p:sp>
      <p:sp>
        <p:nvSpPr>
          <p:cNvPr id="16" name="text ANTENNA → LOSSY CABLE → LNA">
            <a:extLst xmlns:a="http://schemas.openxmlformats.org/drawingml/2006/main">
              <a:ext uri="{FF2B5EF4-FFF2-40B4-BE49-F238E27FC236}">
                <a16:creationId xmlns:a16="http://schemas.microsoft.com/office/drawing/2014/main" id="{9D1E88C9-1D33-4624-BA11-1EB94B92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248150"/>
            <a:ext cx="4762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ANTENNA → LOSSY CABLE → LNA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7090BC-75B5-4ECE-9494-B3D1F534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10915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105978-699E-4CA3-94DB-496F2A83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381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8D4"/>
          </a:solidFill>
          <a:ln xmlns:a="http://schemas.openxmlformats.org/drawingml/2006/main" w="0">
            <a:solidFill>
              <a:srgbClr val="26B8D4"/>
            </a:solidFill>
            <a:prstDash val="solid"/>
          </a:ln>
        </p:spPr>
      </p:sp>
      <p:sp>
        <p:nvSpPr>
          <p:cNvPr id="19" name="text Dashboard experiment: compare an 8 ">
            <a:extLst xmlns:a="http://schemas.openxmlformats.org/drawingml/2006/main">
              <a:ext uri="{FF2B5EF4-FFF2-40B4-BE49-F238E27FC236}">
                <a16:creationId xmlns:a16="http://schemas.microsoft.com/office/drawing/2014/main" id="{D3B86154-08DD-475B-B070-801A141B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1497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Dashboard experiment: compare an 8 dB cable loss before versus after a 30 dB, 2.5 dB-NF LNA.</a:t>
            </a:r>
          </a:p>
        </p:txBody>
      </p:sp>
    </p:spTree>
    <p:extLst>
      <p:ext uri="{BB962C8B-B14F-4D97-AF65-F5344CB8AC3E}">
        <p14:creationId xmlns:p14="http://schemas.microsoft.com/office/powerpoint/2010/main" val="6677364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 LESSON 04  ·  SELECT THE BAND">
            <a:extLst xmlns:a="http://schemas.openxmlformats.org/drawingml/2006/main">
              <a:ext uri="{FF2B5EF4-FFF2-40B4-BE49-F238E27FC236}">
                <a16:creationId xmlns:a16="http://schemas.microsoft.com/office/drawing/2014/main" id="{4CDBE5F7-7144-4B35-B79A-5C690EBE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A37AE8"/>
                </a:solidFill>
                <a:latin typeface="Segoe UI"/>
                <a:ea typeface="Segoe UI"/>
                <a:cs typeface="Segoe UI"/>
              </a:rPr>
              <a:t>LESSON 04  ·  SELECT THE BAND</a:t>
            </a:r>
          </a:p>
        </p:txBody>
      </p:sp>
      <p:sp>
        <p:nvSpPr>
          <p:cNvPr id="2" name="text Three filters. Three jobs.">
            <a:extLst xmlns:a="http://schemas.openxmlformats.org/drawingml/2006/main">
              <a:ext uri="{FF2B5EF4-FFF2-40B4-BE49-F238E27FC236}">
                <a16:creationId xmlns:a16="http://schemas.microsoft.com/office/drawing/2014/main" id="{BD8A2A92-3EBB-44C7-AD29-185E31BB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7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Three filters. Three jobs.</a:t>
            </a:r>
          </a:p>
        </p:txBody>
      </p:sp>
      <p:sp>
        <p:nvSpPr>
          <p:cNvPr id="3" name="text Preselection, IF selectivity and fi">
            <a:extLst xmlns:a="http://schemas.openxmlformats.org/drawingml/2006/main">
              <a:ext uri="{FF2B5EF4-FFF2-40B4-BE49-F238E27FC236}">
                <a16:creationId xmlns:a16="http://schemas.microsoft.com/office/drawing/2014/main" id="{F4E82072-32CD-4367-9390-AE765283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Preselection, IF selectivity and final band-limit each protect a different stage.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EDC26-E1E4-4CD6-872B-9F5F1F3C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6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5" name="text GNSS FRONT END  |  NCGSA VIRTUAL GN">
            <a:extLst xmlns:a="http://schemas.openxmlformats.org/drawingml/2006/main">
              <a:ext uri="{FF2B5EF4-FFF2-40B4-BE49-F238E27FC236}">
                <a16:creationId xmlns:a16="http://schemas.microsoft.com/office/drawing/2014/main" id="{35B7A184-781A-498D-B343-FEC1A7BB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81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GNSS FRONT END  |  NCGSA VIRTUAL GNSS LABORATORY</a:t>
            </a:r>
          </a:p>
        </p:txBody>
      </p:sp>
      <p:sp>
        <p:nvSpPr>
          <p:cNvPr id="6" name="text 12">
            <a:extLst xmlns:a="http://schemas.openxmlformats.org/drawingml/2006/main">
              <a:ext uri="{FF2B5EF4-FFF2-40B4-BE49-F238E27FC236}">
                <a16:creationId xmlns:a16="http://schemas.microsoft.com/office/drawing/2014/main" id="{3FC9C4BB-71FF-4500-B6A6-C4DDFB78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1A520-7D00-4E09-BE5A-DBF8EBB0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3514725" cy="2752725"/>
          </a:xfrm>
          <a:prstGeom xmlns:a="http://schemas.openxmlformats.org/drawingml/2006/main" prst="roundRect">
            <a:avLst>
              <a:gd name="adj" fmla="val 3114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4B312-32B8-42FB-8ED7-AD200BE6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47625" cy="2752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8D4"/>
          </a:solidFill>
          <a:ln xmlns:a="http://schemas.openxmlformats.org/drawingml/2006/main" w="0">
            <a:solidFill>
              <a:srgbClr val="26B8D4"/>
            </a:solidFill>
            <a:prstDash val="solid"/>
          </a:ln>
        </p:spPr>
      </p:sp>
      <p:sp>
        <p:nvSpPr>
          <p:cNvPr id="9" name="text RF preselection">
            <a:extLst xmlns:a="http://schemas.openxmlformats.org/drawingml/2006/main">
              <a:ext uri="{FF2B5EF4-FFF2-40B4-BE49-F238E27FC236}">
                <a16:creationId xmlns:a16="http://schemas.microsoft.com/office/drawing/2014/main" id="{9FEC53E8-1E4A-41E5-9097-303FAA90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RF preselection</a:t>
            </a:r>
          </a:p>
        </p:txBody>
      </p:sp>
      <p:sp>
        <p:nvSpPr>
          <p:cNvPr id="10" name="text 50 MHz">
            <a:extLst xmlns:a="http://schemas.openxmlformats.org/drawingml/2006/main">
              <a:ext uri="{FF2B5EF4-FFF2-40B4-BE49-F238E27FC236}">
                <a16:creationId xmlns:a16="http://schemas.microsoft.com/office/drawing/2014/main" id="{1CEC3FA5-12D9-410C-A91A-0C83F61E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26B8D4"/>
                </a:solidFill>
                <a:latin typeface="Segoe UI"/>
                <a:ea typeface="Segoe UI"/>
                <a:cs typeface="Segoe UI"/>
              </a:rPr>
              <a:t>50 MHz</a:t>
            </a:r>
          </a:p>
        </p:txBody>
      </p:sp>
      <p:sp>
        <p:nvSpPr>
          <p:cNvPr id="11" name="text Suppress distant RF blockers">
            <a:extLst xmlns:a="http://schemas.openxmlformats.org/drawingml/2006/main">
              <a:ext uri="{FF2B5EF4-FFF2-40B4-BE49-F238E27FC236}">
                <a16:creationId xmlns:a16="http://schemas.microsoft.com/office/drawing/2014/main" id="{7108948B-4D83-4227-81E7-70738F85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10000"/>
            <a:ext cx="30099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Suppress distant RF blockers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AE3D3-018A-4989-811D-922239F3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00275"/>
            <a:ext cx="3514725" cy="2752725"/>
          </a:xfrm>
          <a:prstGeom xmlns:a="http://schemas.openxmlformats.org/drawingml/2006/main" prst="roundRect">
            <a:avLst>
              <a:gd name="adj" fmla="val 3114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C6BC6-B030-4750-B826-1783AA02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00275"/>
            <a:ext cx="47625" cy="2752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14" name="text IF selection">
            <a:extLst xmlns:a="http://schemas.openxmlformats.org/drawingml/2006/main">
              <a:ext uri="{FF2B5EF4-FFF2-40B4-BE49-F238E27FC236}">
                <a16:creationId xmlns:a16="http://schemas.microsoft.com/office/drawing/2014/main" id="{0778B605-33B0-424B-BE70-621DBD70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098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IF selection</a:t>
            </a:r>
          </a:p>
        </p:txBody>
      </p:sp>
      <p:sp>
        <p:nvSpPr>
          <p:cNvPr id="15" name="text 18 MHz">
            <a:extLst xmlns:a="http://schemas.openxmlformats.org/drawingml/2006/main">
              <a:ext uri="{FF2B5EF4-FFF2-40B4-BE49-F238E27FC236}">
                <a16:creationId xmlns:a16="http://schemas.microsoft.com/office/drawing/2014/main" id="{96E32A17-1DA3-4D28-994E-CCF2CDF8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2B541"/>
                </a:solidFill>
                <a:latin typeface="Segoe UI"/>
                <a:ea typeface="Segoe UI"/>
                <a:cs typeface="Segoe UI"/>
              </a:rPr>
              <a:t>18 MHz</a:t>
            </a:r>
          </a:p>
        </p:txBody>
      </p:sp>
      <p:sp>
        <p:nvSpPr>
          <p:cNvPr id="16" name="text Reject mixer products / image resid">
            <a:extLst xmlns:a="http://schemas.openxmlformats.org/drawingml/2006/main">
              <a:ext uri="{FF2B5EF4-FFF2-40B4-BE49-F238E27FC236}">
                <a16:creationId xmlns:a16="http://schemas.microsoft.com/office/drawing/2014/main" id="{06AEA178-0946-4828-A60B-E5018F90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10000"/>
            <a:ext cx="30099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Reject mixer products / image residue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5F597-5BD4-4ACB-9E1C-A1A8F46A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00275"/>
            <a:ext cx="3514725" cy="2752725"/>
          </a:xfrm>
          <a:prstGeom xmlns:a="http://schemas.openxmlformats.org/drawingml/2006/main" prst="roundRect">
            <a:avLst>
              <a:gd name="adj" fmla="val 3114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18796-EC1F-4D12-B43B-67F9C08B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00275"/>
            <a:ext cx="47625" cy="2752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19" name="text Final band limit">
            <a:extLst xmlns:a="http://schemas.openxmlformats.org/drawingml/2006/main">
              <a:ext uri="{FF2B5EF4-FFF2-40B4-BE49-F238E27FC236}">
                <a16:creationId xmlns:a16="http://schemas.microsoft.com/office/drawing/2014/main" id="{95A29E11-C14A-4621-A723-659AAF90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4098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Final band limit</a:t>
            </a:r>
          </a:p>
        </p:txBody>
      </p:sp>
      <p:sp>
        <p:nvSpPr>
          <p:cNvPr id="20" name="text 6 MHz">
            <a:extLst xmlns:a="http://schemas.openxmlformats.org/drawingml/2006/main">
              <a:ext uri="{FF2B5EF4-FFF2-40B4-BE49-F238E27FC236}">
                <a16:creationId xmlns:a16="http://schemas.microsoft.com/office/drawing/2014/main" id="{70415F3C-FBF5-4D90-8F1B-8C9762D4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9527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24C29A"/>
                </a:solidFill>
                <a:latin typeface="Segoe UI"/>
                <a:ea typeface="Segoe UI"/>
                <a:cs typeface="Segoe UI"/>
              </a:rPr>
              <a:t>6 MHz</a:t>
            </a:r>
          </a:p>
        </p:txBody>
      </p:sp>
      <p:sp>
        <p:nvSpPr>
          <p:cNvPr id="21" name="text Constrain the band presented to ADC">
            <a:extLst xmlns:a="http://schemas.openxmlformats.org/drawingml/2006/main">
              <a:ext uri="{FF2B5EF4-FFF2-40B4-BE49-F238E27FC236}">
                <a16:creationId xmlns:a16="http://schemas.microsoft.com/office/drawing/2014/main" id="{07C44CAE-1AAF-41D5-A9B5-99C2526B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810000"/>
            <a:ext cx="30099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Constrain the band presented to ADC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C30AD6-264C-4248-A4B5-9D47C0E8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81625"/>
            <a:ext cx="10915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997950-BC3F-449D-8AD0-C6D208F4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81625"/>
            <a:ext cx="381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37AE8"/>
          </a:solidFill>
          <a:ln xmlns:a="http://schemas.openxmlformats.org/drawingml/2006/main" w="0">
            <a:solidFill>
              <a:srgbClr val="A37AE8"/>
            </a:solidFill>
            <a:prstDash val="solid"/>
          </a:ln>
        </p:spPr>
      </p:sp>
      <p:sp>
        <p:nvSpPr>
          <p:cNvPr id="24" name="text Selectivity is useful only if the f">
            <a:extLst xmlns:a="http://schemas.openxmlformats.org/drawingml/2006/main">
              <a:ext uri="{FF2B5EF4-FFF2-40B4-BE49-F238E27FC236}">
                <a16:creationId xmlns:a16="http://schemas.microsoft.com/office/drawing/2014/main" id="{2BE473DA-99A7-4AC6-B507-31145C9C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5782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Selectivity is useful only if the filter does not remove the signal information we need.</a:t>
            </a:r>
          </a:p>
        </p:txBody>
      </p:sp>
    </p:spTree>
    <p:extLst>
      <p:ext uri="{BB962C8B-B14F-4D97-AF65-F5344CB8AC3E}">
        <p14:creationId xmlns:p14="http://schemas.microsoft.com/office/powerpoint/2010/main" val="12573578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 LESSON 04  ·  BANDWIDTH TRADE-OFF">
            <a:extLst xmlns:a="http://schemas.openxmlformats.org/drawingml/2006/main">
              <a:ext uri="{FF2B5EF4-FFF2-40B4-BE49-F238E27FC236}">
                <a16:creationId xmlns:a16="http://schemas.microsoft.com/office/drawing/2014/main" id="{32B90CE0-10D1-4584-AB5E-00CBB067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A37AE8"/>
                </a:solidFill>
                <a:latin typeface="Segoe UI"/>
                <a:ea typeface="Segoe UI"/>
                <a:cs typeface="Segoe UI"/>
              </a:rPr>
              <a:t>LESSON 04  ·  BANDWIDTH TRADE-OFF</a:t>
            </a:r>
          </a:p>
        </p:txBody>
      </p:sp>
      <p:sp>
        <p:nvSpPr>
          <p:cNvPr id="2" name="text Narrow filters reduce noise — but c">
            <a:extLst xmlns:a="http://schemas.openxmlformats.org/drawingml/2006/main">
              <a:ext uri="{FF2B5EF4-FFF2-40B4-BE49-F238E27FC236}">
                <a16:creationId xmlns:a16="http://schemas.microsoft.com/office/drawing/2014/main" id="{B80F450F-774F-4CFC-A28D-4AC2B979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7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Narrow filters reduce noise — but can distort code</a:t>
            </a:r>
          </a:p>
        </p:txBody>
      </p:sp>
      <p:sp>
        <p:nvSpPr>
          <p:cNvPr id="3" name="text A lower noise bandwidth is not auto">
            <a:extLst xmlns:a="http://schemas.openxmlformats.org/drawingml/2006/main">
              <a:ext uri="{FF2B5EF4-FFF2-40B4-BE49-F238E27FC236}">
                <a16:creationId xmlns:a16="http://schemas.microsoft.com/office/drawing/2014/main" id="{A965AE47-C136-4079-8A6F-67679BD9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A lower noise bandwidth is not automatically a better navigation signal.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64B6D-6CBE-4154-A9FF-9A97B5C2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6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5" name="text GNSS FRONT END  |  NCGSA VIRTUAL GN">
            <a:extLst xmlns:a="http://schemas.openxmlformats.org/drawingml/2006/main">
              <a:ext uri="{FF2B5EF4-FFF2-40B4-BE49-F238E27FC236}">
                <a16:creationId xmlns:a16="http://schemas.microsoft.com/office/drawing/2014/main" id="{605764A7-C6BE-40C6-902B-C44D8F4E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81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GNSS FRONT END  |  NCGSA VIRTUAL GNSS LABORATORY</a:t>
            </a:r>
          </a:p>
        </p:txBody>
      </p:sp>
      <p:sp>
        <p:nvSpPr>
          <p:cNvPr id="6" name="text 13">
            <a:extLst xmlns:a="http://schemas.openxmlformats.org/drawingml/2006/main">
              <a:ext uri="{FF2B5EF4-FFF2-40B4-BE49-F238E27FC236}">
                <a16:creationId xmlns:a16="http://schemas.microsoft.com/office/drawing/2014/main" id="{9ABAE2E1-CBCA-41E0-BFC6-BDD4F92C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803B6-CE66-46BC-A90C-3545D933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33600"/>
            <a:ext cx="109728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8" name="text GPS C/A main-lobe spectral nulls: ±">
            <a:extLst xmlns:a="http://schemas.openxmlformats.org/drawingml/2006/main">
              <a:ext uri="{FF2B5EF4-FFF2-40B4-BE49-F238E27FC236}">
                <a16:creationId xmlns:a16="http://schemas.microsoft.com/office/drawing/2014/main" id="{8C14D4B9-359F-42D9-9DB0-3B9322C1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971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26B8D4"/>
                </a:solidFill>
                <a:latin typeface="Segoe UI"/>
                <a:ea typeface="Segoe UI"/>
                <a:cs typeface="Segoe UI"/>
              </a:rPr>
              <a:t>GPS C/A main-lobe spectral nulls: ±1.023 MHz around L1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ADF9D-8DD7-4D1F-B1DA-FD871329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257675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2A2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AFD01-8B68-4387-A07D-DCDB2259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38425"/>
            <a:ext cx="8572500" cy="1638300"/>
          </a:xfrm>
          <a:custGeom xmlns:a="http://schemas.openxmlformats.org/drawingml/2006/main">
            <a:pathLst>
              <a:path w="8572500" h="1638300">
                <a:moveTo>
                  <a:pt x="0" y="1562100"/>
                </a:moveTo>
                <a:lnTo>
                  <a:pt x="47625" y="1561923"/>
                </a:lnTo>
                <a:lnTo>
                  <a:pt x="95250" y="1561396"/>
                </a:lnTo>
                <a:lnTo>
                  <a:pt x="142875" y="1560561"/>
                </a:lnTo>
                <a:lnTo>
                  <a:pt x="190500" y="1559497"/>
                </a:lnTo>
                <a:lnTo>
                  <a:pt x="238125" y="1558316"/>
                </a:lnTo>
                <a:lnTo>
                  <a:pt x="285750" y="1557148"/>
                </a:lnTo>
                <a:lnTo>
                  <a:pt x="333375" y="1556128"/>
                </a:lnTo>
                <a:lnTo>
                  <a:pt x="381000" y="1555380"/>
                </a:lnTo>
                <a:lnTo>
                  <a:pt x="428625" y="1554999"/>
                </a:lnTo>
                <a:lnTo>
                  <a:pt x="476250" y="1555040"/>
                </a:lnTo>
                <a:lnTo>
                  <a:pt x="523875" y="1555508"/>
                </a:lnTo>
                <a:lnTo>
                  <a:pt x="571500" y="1556357"/>
                </a:lnTo>
                <a:lnTo>
                  <a:pt x="619125" y="1557489"/>
                </a:lnTo>
                <a:lnTo>
                  <a:pt x="666750" y="1558767"/>
                </a:lnTo>
                <a:lnTo>
                  <a:pt x="714375" y="1560029"/>
                </a:lnTo>
                <a:lnTo>
                  <a:pt x="762000" y="1561105"/>
                </a:lnTo>
                <a:lnTo>
                  <a:pt x="809625" y="1561836"/>
                </a:lnTo>
                <a:lnTo>
                  <a:pt x="857250" y="1562100"/>
                </a:lnTo>
                <a:lnTo>
                  <a:pt x="904875" y="1561821"/>
                </a:lnTo>
                <a:lnTo>
                  <a:pt x="952500" y="1560988"/>
                </a:lnTo>
                <a:lnTo>
                  <a:pt x="1000125" y="1559654"/>
                </a:lnTo>
                <a:lnTo>
                  <a:pt x="1047750" y="1557937"/>
                </a:lnTo>
                <a:lnTo>
                  <a:pt x="1095375" y="1556009"/>
                </a:lnTo>
                <a:lnTo>
                  <a:pt x="1143000" y="1554078"/>
                </a:lnTo>
                <a:lnTo>
                  <a:pt x="1190625" y="1552363"/>
                </a:lnTo>
                <a:lnTo>
                  <a:pt x="1238250" y="1551068"/>
                </a:lnTo>
                <a:lnTo>
                  <a:pt x="1285875" y="1550361"/>
                </a:lnTo>
                <a:lnTo>
                  <a:pt x="1333500" y="1550345"/>
                </a:lnTo>
                <a:lnTo>
                  <a:pt x="1381125" y="1551044"/>
                </a:lnTo>
                <a:lnTo>
                  <a:pt x="1428750" y="1552394"/>
                </a:lnTo>
                <a:lnTo>
                  <a:pt x="1476375" y="1554246"/>
                </a:lnTo>
                <a:lnTo>
                  <a:pt x="1524000" y="1556378"/>
                </a:lnTo>
                <a:lnTo>
                  <a:pt x="1571625" y="1558515"/>
                </a:lnTo>
                <a:lnTo>
                  <a:pt x="1619250" y="1560362"/>
                </a:lnTo>
                <a:lnTo>
                  <a:pt x="1666875" y="1561636"/>
                </a:lnTo>
                <a:lnTo>
                  <a:pt x="1714500" y="1562100"/>
                </a:lnTo>
                <a:lnTo>
                  <a:pt x="1762125" y="1561600"/>
                </a:lnTo>
                <a:lnTo>
                  <a:pt x="1809750" y="1560084"/>
                </a:lnTo>
                <a:lnTo>
                  <a:pt x="1857375" y="1557622"/>
                </a:lnTo>
                <a:lnTo>
                  <a:pt x="1905000" y="1554400"/>
                </a:lnTo>
                <a:lnTo>
                  <a:pt x="1952625" y="1550713"/>
                </a:lnTo>
                <a:lnTo>
                  <a:pt x="2000250" y="1546934"/>
                </a:lnTo>
                <a:lnTo>
                  <a:pt x="2047875" y="1543476"/>
                </a:lnTo>
                <a:lnTo>
                  <a:pt x="2095500" y="1540746"/>
                </a:lnTo>
                <a:lnTo>
                  <a:pt x="2143125" y="1539092"/>
                </a:lnTo>
                <a:lnTo>
                  <a:pt x="2190750" y="1538760"/>
                </a:lnTo>
                <a:lnTo>
                  <a:pt x="2238375" y="1539850"/>
                </a:lnTo>
                <a:lnTo>
                  <a:pt x="2286000" y="1542291"/>
                </a:lnTo>
                <a:lnTo>
                  <a:pt x="2333625" y="1545836"/>
                </a:lnTo>
                <a:lnTo>
                  <a:pt x="2381250" y="1550069"/>
                </a:lnTo>
                <a:lnTo>
                  <a:pt x="2428875" y="1554442"/>
                </a:lnTo>
                <a:lnTo>
                  <a:pt x="2476500" y="1558326"/>
                </a:lnTo>
                <a:lnTo>
                  <a:pt x="2524125" y="1561074"/>
                </a:lnTo>
                <a:lnTo>
                  <a:pt x="2571750" y="1562100"/>
                </a:lnTo>
                <a:lnTo>
                  <a:pt x="2619375" y="1560953"/>
                </a:lnTo>
                <a:lnTo>
                  <a:pt x="2667000" y="1557385"/>
                </a:lnTo>
                <a:lnTo>
                  <a:pt x="2714625" y="1551404"/>
                </a:lnTo>
                <a:lnTo>
                  <a:pt x="2762250" y="1543301"/>
                </a:lnTo>
                <a:lnTo>
                  <a:pt x="2809875" y="1533650"/>
                </a:lnTo>
                <a:lnTo>
                  <a:pt x="2857500" y="1523275"/>
                </a:lnTo>
                <a:lnTo>
                  <a:pt x="2905125" y="1513182"/>
                </a:lnTo>
                <a:lnTo>
                  <a:pt x="2952750" y="1504465"/>
                </a:lnTo>
                <a:lnTo>
                  <a:pt x="3000375" y="1498190"/>
                </a:lnTo>
                <a:lnTo>
                  <a:pt x="3048000" y="1495257"/>
                </a:lnTo>
                <a:lnTo>
                  <a:pt x="3095625" y="1496275"/>
                </a:lnTo>
                <a:lnTo>
                  <a:pt x="3143250" y="1501435"/>
                </a:lnTo>
                <a:lnTo>
                  <a:pt x="3190875" y="1510417"/>
                </a:lnTo>
                <a:lnTo>
                  <a:pt x="3238500" y="1522327"/>
                </a:lnTo>
                <a:lnTo>
                  <a:pt x="3286125" y="1535688"/>
                </a:lnTo>
                <a:lnTo>
                  <a:pt x="3333750" y="1548475"/>
                </a:lnTo>
                <a:lnTo>
                  <a:pt x="3381375" y="1558208"/>
                </a:lnTo>
                <a:lnTo>
                  <a:pt x="3429000" y="1562100"/>
                </a:lnTo>
                <a:lnTo>
                  <a:pt x="3476625" y="1557239"/>
                </a:lnTo>
                <a:lnTo>
                  <a:pt x="3524250" y="1540811"/>
                </a:lnTo>
                <a:lnTo>
                  <a:pt x="3571875" y="1510333"/>
                </a:lnTo>
                <a:lnTo>
                  <a:pt x="3619500" y="1463886"/>
                </a:lnTo>
                <a:lnTo>
                  <a:pt x="3667125" y="1400323"/>
                </a:lnTo>
                <a:lnTo>
                  <a:pt x="3714750" y="1319442"/>
                </a:lnTo>
                <a:lnTo>
                  <a:pt x="3762375" y="1222097"/>
                </a:lnTo>
                <a:lnTo>
                  <a:pt x="3810000" y="1110245"/>
                </a:lnTo>
                <a:lnTo>
                  <a:pt x="3857625" y="986910"/>
                </a:lnTo>
                <a:lnTo>
                  <a:pt x="3905250" y="856076"/>
                </a:lnTo>
                <a:lnTo>
                  <a:pt x="3952875" y="722501"/>
                </a:lnTo>
                <a:lnTo>
                  <a:pt x="4000500" y="591466"/>
                </a:lnTo>
                <a:lnTo>
                  <a:pt x="4048125" y="468485"/>
                </a:lnTo>
                <a:lnTo>
                  <a:pt x="4095750" y="358973"/>
                </a:lnTo>
                <a:lnTo>
                  <a:pt x="4143375" y="267922"/>
                </a:lnTo>
                <a:lnTo>
                  <a:pt x="4191000" y="199589"/>
                </a:lnTo>
                <a:lnTo>
                  <a:pt x="4238625" y="157227"/>
                </a:lnTo>
                <a:lnTo>
                  <a:pt x="4286250" y="142875"/>
                </a:lnTo>
                <a:lnTo>
                  <a:pt x="4333875" y="157227"/>
                </a:lnTo>
                <a:lnTo>
                  <a:pt x="4381500" y="199589"/>
                </a:lnTo>
                <a:lnTo>
                  <a:pt x="4429125" y="267922"/>
                </a:lnTo>
                <a:lnTo>
                  <a:pt x="4476750" y="358973"/>
                </a:lnTo>
                <a:lnTo>
                  <a:pt x="4524375" y="468485"/>
                </a:lnTo>
                <a:lnTo>
                  <a:pt x="4572000" y="591466"/>
                </a:lnTo>
                <a:lnTo>
                  <a:pt x="4619625" y="722501"/>
                </a:lnTo>
                <a:lnTo>
                  <a:pt x="4667250" y="856076"/>
                </a:lnTo>
                <a:lnTo>
                  <a:pt x="4714875" y="986910"/>
                </a:lnTo>
                <a:lnTo>
                  <a:pt x="4762500" y="1110245"/>
                </a:lnTo>
                <a:lnTo>
                  <a:pt x="4810125" y="1222097"/>
                </a:lnTo>
                <a:lnTo>
                  <a:pt x="4857750" y="1319442"/>
                </a:lnTo>
                <a:lnTo>
                  <a:pt x="4905375" y="1400323"/>
                </a:lnTo>
                <a:lnTo>
                  <a:pt x="4953000" y="1463886"/>
                </a:lnTo>
                <a:lnTo>
                  <a:pt x="5000625" y="1510333"/>
                </a:lnTo>
                <a:lnTo>
                  <a:pt x="5048250" y="1540811"/>
                </a:lnTo>
                <a:lnTo>
                  <a:pt x="5095875" y="1557239"/>
                </a:lnTo>
                <a:lnTo>
                  <a:pt x="5143500" y="1562100"/>
                </a:lnTo>
                <a:lnTo>
                  <a:pt x="5191125" y="1558208"/>
                </a:lnTo>
                <a:lnTo>
                  <a:pt x="5238750" y="1548475"/>
                </a:lnTo>
                <a:lnTo>
                  <a:pt x="5286375" y="1535688"/>
                </a:lnTo>
                <a:lnTo>
                  <a:pt x="5334000" y="1522327"/>
                </a:lnTo>
                <a:lnTo>
                  <a:pt x="5381625" y="1510417"/>
                </a:lnTo>
                <a:lnTo>
                  <a:pt x="5429250" y="1501435"/>
                </a:lnTo>
                <a:lnTo>
                  <a:pt x="5476875" y="1496275"/>
                </a:lnTo>
                <a:lnTo>
                  <a:pt x="5524500" y="1495257"/>
                </a:lnTo>
                <a:lnTo>
                  <a:pt x="5572125" y="1498190"/>
                </a:lnTo>
                <a:lnTo>
                  <a:pt x="5619750" y="1504465"/>
                </a:lnTo>
                <a:lnTo>
                  <a:pt x="5667375" y="1513182"/>
                </a:lnTo>
                <a:lnTo>
                  <a:pt x="5715000" y="1523275"/>
                </a:lnTo>
                <a:lnTo>
                  <a:pt x="5762625" y="1533650"/>
                </a:lnTo>
                <a:lnTo>
                  <a:pt x="5810250" y="1543301"/>
                </a:lnTo>
                <a:lnTo>
                  <a:pt x="5857875" y="1551404"/>
                </a:lnTo>
                <a:lnTo>
                  <a:pt x="5905500" y="1557385"/>
                </a:lnTo>
                <a:lnTo>
                  <a:pt x="5953125" y="1560953"/>
                </a:lnTo>
                <a:lnTo>
                  <a:pt x="6000750" y="1562100"/>
                </a:lnTo>
                <a:lnTo>
                  <a:pt x="6048375" y="1561074"/>
                </a:lnTo>
                <a:lnTo>
                  <a:pt x="6096000" y="1558326"/>
                </a:lnTo>
                <a:lnTo>
                  <a:pt x="6143625" y="1554442"/>
                </a:lnTo>
                <a:lnTo>
                  <a:pt x="6191250" y="1550069"/>
                </a:lnTo>
                <a:lnTo>
                  <a:pt x="6238875" y="1545836"/>
                </a:lnTo>
                <a:lnTo>
                  <a:pt x="6286500" y="1542291"/>
                </a:lnTo>
                <a:lnTo>
                  <a:pt x="6334125" y="1539850"/>
                </a:lnTo>
                <a:lnTo>
                  <a:pt x="6381750" y="1538760"/>
                </a:lnTo>
                <a:lnTo>
                  <a:pt x="6429375" y="1539092"/>
                </a:lnTo>
                <a:lnTo>
                  <a:pt x="6477000" y="1540746"/>
                </a:lnTo>
                <a:lnTo>
                  <a:pt x="6524625" y="1543476"/>
                </a:lnTo>
                <a:lnTo>
                  <a:pt x="6572250" y="1546934"/>
                </a:lnTo>
                <a:lnTo>
                  <a:pt x="6619875" y="1550713"/>
                </a:lnTo>
                <a:lnTo>
                  <a:pt x="6667500" y="1554400"/>
                </a:lnTo>
                <a:lnTo>
                  <a:pt x="6715125" y="1557622"/>
                </a:lnTo>
                <a:lnTo>
                  <a:pt x="6762750" y="1560084"/>
                </a:lnTo>
                <a:lnTo>
                  <a:pt x="6810375" y="1561600"/>
                </a:lnTo>
                <a:lnTo>
                  <a:pt x="6858000" y="1562100"/>
                </a:lnTo>
                <a:lnTo>
                  <a:pt x="6905625" y="1561636"/>
                </a:lnTo>
                <a:lnTo>
                  <a:pt x="6953250" y="1560362"/>
                </a:lnTo>
                <a:lnTo>
                  <a:pt x="7000875" y="1558515"/>
                </a:lnTo>
                <a:lnTo>
                  <a:pt x="7048500" y="1556378"/>
                </a:lnTo>
                <a:lnTo>
                  <a:pt x="7096125" y="1554246"/>
                </a:lnTo>
                <a:lnTo>
                  <a:pt x="7143750" y="1552394"/>
                </a:lnTo>
                <a:lnTo>
                  <a:pt x="7191375" y="1551044"/>
                </a:lnTo>
                <a:lnTo>
                  <a:pt x="7239000" y="1550345"/>
                </a:lnTo>
                <a:lnTo>
                  <a:pt x="7286625" y="1550361"/>
                </a:lnTo>
                <a:lnTo>
                  <a:pt x="7334250" y="1551068"/>
                </a:lnTo>
                <a:lnTo>
                  <a:pt x="7381875" y="1552363"/>
                </a:lnTo>
                <a:lnTo>
                  <a:pt x="7429500" y="1554078"/>
                </a:lnTo>
                <a:lnTo>
                  <a:pt x="7477125" y="1556009"/>
                </a:lnTo>
                <a:lnTo>
                  <a:pt x="7524750" y="1557937"/>
                </a:lnTo>
                <a:lnTo>
                  <a:pt x="7572375" y="1559654"/>
                </a:lnTo>
                <a:lnTo>
                  <a:pt x="7620000" y="1560988"/>
                </a:lnTo>
                <a:lnTo>
                  <a:pt x="7667625" y="1561821"/>
                </a:lnTo>
                <a:lnTo>
                  <a:pt x="7715250" y="1562100"/>
                </a:lnTo>
                <a:lnTo>
                  <a:pt x="7762875" y="1561836"/>
                </a:lnTo>
                <a:lnTo>
                  <a:pt x="7810500" y="1561105"/>
                </a:lnTo>
                <a:lnTo>
                  <a:pt x="7858125" y="1560029"/>
                </a:lnTo>
                <a:lnTo>
                  <a:pt x="7905750" y="1558767"/>
                </a:lnTo>
                <a:lnTo>
                  <a:pt x="7953375" y="1557489"/>
                </a:lnTo>
                <a:lnTo>
                  <a:pt x="8001000" y="1556357"/>
                </a:lnTo>
                <a:lnTo>
                  <a:pt x="8048625" y="1555508"/>
                </a:lnTo>
                <a:lnTo>
                  <a:pt x="8096250" y="1555040"/>
                </a:lnTo>
                <a:lnTo>
                  <a:pt x="8143875" y="1554999"/>
                </a:lnTo>
                <a:lnTo>
                  <a:pt x="8191500" y="1555380"/>
                </a:lnTo>
                <a:lnTo>
                  <a:pt x="8239125" y="1556128"/>
                </a:lnTo>
                <a:lnTo>
                  <a:pt x="8286750" y="1557148"/>
                </a:lnTo>
                <a:lnTo>
                  <a:pt x="8334375" y="1558316"/>
                </a:lnTo>
                <a:lnTo>
                  <a:pt x="8382000" y="1559497"/>
                </a:lnTo>
                <a:lnTo>
                  <a:pt x="8429625" y="1560561"/>
                </a:lnTo>
                <a:lnTo>
                  <a:pt x="8477250" y="1561396"/>
                </a:lnTo>
                <a:lnTo>
                  <a:pt x="8524875" y="1561923"/>
                </a:lnTo>
                <a:lnTo>
                  <a:pt x="8572500" y="15621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6B8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0D288-FE88-4A3F-97E0-90D283B5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14650"/>
            <a:ext cx="0" cy="1419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B54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4AE75-A60A-4165-AD5D-EF5D995B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14650"/>
            <a:ext cx="0" cy="1419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B541"/>
            </a:solidFill>
            <a:prstDash val="solid"/>
          </a:ln>
        </p:spPr>
      </p:sp>
      <p:sp>
        <p:nvSpPr>
          <p:cNvPr id="13" name="text ≈ 2.046 MHz main-lobe width">
            <a:extLst xmlns:a="http://schemas.openxmlformats.org/drawingml/2006/main">
              <a:ext uri="{FF2B5EF4-FFF2-40B4-BE49-F238E27FC236}">
                <a16:creationId xmlns:a16="http://schemas.microsoft.com/office/drawing/2014/main" id="{F402BE8E-B537-4587-9C77-39251EB1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00550"/>
            <a:ext cx="3819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2B541"/>
                </a:solidFill>
                <a:latin typeface="Segoe UI"/>
                <a:ea typeface="Segoe UI"/>
                <a:cs typeface="Segoe UI"/>
              </a:rPr>
              <a:t>≈ 2.046 MHz main-lobe width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F17E31-18C1-4954-9FFA-6CE57665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10915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5D0F6-FDF5-4A79-899A-76569A91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381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16" name="text Use dashboard widths of 1, 2.046, 6">
            <a:extLst xmlns:a="http://schemas.openxmlformats.org/drawingml/2006/main">
              <a:ext uri="{FF2B5EF4-FFF2-40B4-BE49-F238E27FC236}">
                <a16:creationId xmlns:a16="http://schemas.microsoft.com/office/drawing/2014/main" id="{6B7EB1AB-FDCF-4D7E-AA1D-BD3A368F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0545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Use dashboard widths of 1, 2.046, 6 and 12 MHz; observe SNR and signal-fidelity trade-offs.</a:t>
            </a:r>
          </a:p>
        </p:txBody>
      </p:sp>
    </p:spTree>
    <p:extLst>
      <p:ext uri="{BB962C8B-B14F-4D97-AF65-F5344CB8AC3E}">
        <p14:creationId xmlns:p14="http://schemas.microsoft.com/office/powerpoint/2010/main" val="9842889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5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 LESSON 05  ·  TRANSLATE THE CARRIER">
            <a:extLst xmlns:a="http://schemas.openxmlformats.org/drawingml/2006/main">
              <a:ext uri="{FF2B5EF4-FFF2-40B4-BE49-F238E27FC236}">
                <a16:creationId xmlns:a16="http://schemas.microsoft.com/office/drawing/2014/main" id="{1BD34B68-3612-424B-9C59-126CC1F9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550A1"/>
                </a:solidFill>
                <a:latin typeface="Segoe UI"/>
                <a:ea typeface="Segoe UI"/>
                <a:cs typeface="Segoe UI"/>
              </a:rPr>
              <a:t>LESSON 05  ·  TRANSLATE THE CARRIER</a:t>
            </a:r>
          </a:p>
        </p:txBody>
      </p:sp>
      <p:sp>
        <p:nvSpPr>
          <p:cNvPr id="2" name="text Mixing moves a band without removin">
            <a:extLst xmlns:a="http://schemas.openxmlformats.org/drawingml/2006/main">
              <a:ext uri="{FF2B5EF4-FFF2-40B4-BE49-F238E27FC236}">
                <a16:creationId xmlns:a16="http://schemas.microsoft.com/office/drawing/2014/main" id="{FACE905A-1ADB-454B-BE08-E67085F8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7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Mixing moves a band without removing its modulation</a:t>
            </a:r>
          </a:p>
        </p:txBody>
      </p:sp>
      <p:sp>
        <p:nvSpPr>
          <p:cNvPr id="3" name="text Multiplication produces a differenc">
            <a:extLst xmlns:a="http://schemas.openxmlformats.org/drawingml/2006/main">
              <a:ext uri="{FF2B5EF4-FFF2-40B4-BE49-F238E27FC236}">
                <a16:creationId xmlns:a16="http://schemas.microsoft.com/office/drawing/2014/main" id="{EBE6E272-0092-423B-B0C1-8996A6E0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Multiplication produces a difference and a sum frequency.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79620-E98B-4F75-82D1-40E044F4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6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5" name="text GNSS FRONT END  |  NCGSA VIRTUAL GN">
            <a:extLst xmlns:a="http://schemas.openxmlformats.org/drawingml/2006/main">
              <a:ext uri="{FF2B5EF4-FFF2-40B4-BE49-F238E27FC236}">
                <a16:creationId xmlns:a16="http://schemas.microsoft.com/office/drawing/2014/main" id="{91934FE8-623F-4272-BB72-728450C4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81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GNSS FRONT END  |  NCGSA VIRTUAL GNSS LABORATORY</a:t>
            </a:r>
          </a:p>
        </p:txBody>
      </p:sp>
      <p:sp>
        <p:nvSpPr>
          <p:cNvPr id="6" name="text 14">
            <a:extLst xmlns:a="http://schemas.openxmlformats.org/drawingml/2006/main">
              <a:ext uri="{FF2B5EF4-FFF2-40B4-BE49-F238E27FC236}">
                <a16:creationId xmlns:a16="http://schemas.microsoft.com/office/drawing/2014/main" id="{C7808DB1-FAA5-417B-9DAE-6199C147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0E6E8-96AE-45DE-8EA2-C8A9E0FF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124075"/>
            <a:ext cx="10839450" cy="11049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8" name="text cos A · cos B = ½ cos(A − B) + ½ co">
            <a:extLst xmlns:a="http://schemas.openxmlformats.org/drawingml/2006/main">
              <a:ext uri="{FF2B5EF4-FFF2-40B4-BE49-F238E27FC236}">
                <a16:creationId xmlns:a16="http://schemas.microsoft.com/office/drawing/2014/main" id="{8FED31FF-D5F2-4E24-918E-7BCC6168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52675"/>
            <a:ext cx="10477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4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4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4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4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4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4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4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4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4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cos A · cos B = ½ cos(A − B) + ½ cos(A + B)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3A8CD-317C-4818-994F-29A584DF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29025"/>
            <a:ext cx="32004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0" name="text 1575.42 MHz">
            <a:extLst xmlns:a="http://schemas.openxmlformats.org/drawingml/2006/main">
              <a:ext uri="{FF2B5EF4-FFF2-40B4-BE49-F238E27FC236}">
                <a16:creationId xmlns:a16="http://schemas.microsoft.com/office/drawing/2014/main" id="{5B75F6D9-DC51-41DB-AA26-E7B272AA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24275"/>
            <a:ext cx="2990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6B8D4"/>
                </a:solidFill>
                <a:latin typeface="Segoe UI"/>
                <a:ea typeface="Segoe UI"/>
                <a:cs typeface="Segoe UI"/>
              </a:rPr>
              <a:t>1575.42 MHz</a:t>
            </a:r>
          </a:p>
        </p:txBody>
      </p:sp>
      <p:sp>
        <p:nvSpPr>
          <p:cNvPr id="11" name="text GPS L1 RF">
            <a:extLst xmlns:a="http://schemas.openxmlformats.org/drawingml/2006/main">
              <a:ext uri="{FF2B5EF4-FFF2-40B4-BE49-F238E27FC236}">
                <a16:creationId xmlns:a16="http://schemas.microsoft.com/office/drawing/2014/main" id="{9C53AA95-70FE-4412-A384-EF4B85D2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14800"/>
            <a:ext cx="29908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GPS L1 RF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77BA5-2411-43C4-AA24-1626A826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29025"/>
            <a:ext cx="32004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3" name="text 47.74 MHz">
            <a:extLst xmlns:a="http://schemas.openxmlformats.org/drawingml/2006/main">
              <a:ext uri="{FF2B5EF4-FFF2-40B4-BE49-F238E27FC236}">
                <a16:creationId xmlns:a16="http://schemas.microsoft.com/office/drawing/2014/main" id="{6E817C13-F12F-4231-86F4-A2679003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724275"/>
            <a:ext cx="2990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4C29A"/>
                </a:solidFill>
                <a:latin typeface="Segoe UI"/>
                <a:ea typeface="Segoe UI"/>
                <a:cs typeface="Segoe UI"/>
              </a:rPr>
              <a:t>47.74 MHz</a:t>
            </a:r>
          </a:p>
        </p:txBody>
      </p:sp>
      <p:sp>
        <p:nvSpPr>
          <p:cNvPr id="14" name="text Difference IF — retain">
            <a:extLst xmlns:a="http://schemas.openxmlformats.org/drawingml/2006/main">
              <a:ext uri="{FF2B5EF4-FFF2-40B4-BE49-F238E27FC236}">
                <a16:creationId xmlns:a16="http://schemas.microsoft.com/office/drawing/2014/main" id="{2305009D-0EBB-439F-989B-52757228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114800"/>
            <a:ext cx="29908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Difference IF — retain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034B7-183D-4BC0-90D9-8CC310B3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29025"/>
            <a:ext cx="32004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6" name="text 3103.10 MHz">
            <a:extLst xmlns:a="http://schemas.openxmlformats.org/drawingml/2006/main">
              <a:ext uri="{FF2B5EF4-FFF2-40B4-BE49-F238E27FC236}">
                <a16:creationId xmlns:a16="http://schemas.microsoft.com/office/drawing/2014/main" id="{5D25526F-A3ED-498A-9442-F82F5A60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24275"/>
            <a:ext cx="2990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E550A1"/>
                </a:solidFill>
                <a:latin typeface="Segoe UI"/>
                <a:ea typeface="Segoe UI"/>
                <a:cs typeface="Segoe UI"/>
              </a:rPr>
              <a:t>3103.10 MHz</a:t>
            </a:r>
          </a:p>
        </p:txBody>
      </p:sp>
      <p:sp>
        <p:nvSpPr>
          <p:cNvPr id="17" name="text Sum — reject with filter">
            <a:extLst xmlns:a="http://schemas.openxmlformats.org/drawingml/2006/main">
              <a:ext uri="{FF2B5EF4-FFF2-40B4-BE49-F238E27FC236}">
                <a16:creationId xmlns:a16="http://schemas.microsoft.com/office/drawing/2014/main" id="{62E888F7-B62F-4981-AC6D-9DDBB5B9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14800"/>
            <a:ext cx="29908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Sum — reject with filter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42FFCC-8F1C-4C6A-9E80-9BFF4758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10915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4593B8-FBD3-402F-8B97-EED9E24E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381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20" name="text Local oscillator fLO = 1527.68 MHz.">
            <a:extLst xmlns:a="http://schemas.openxmlformats.org/drawingml/2006/main">
              <a:ext uri="{FF2B5EF4-FFF2-40B4-BE49-F238E27FC236}">
                <a16:creationId xmlns:a16="http://schemas.microsoft.com/office/drawing/2014/main" id="{74428725-4CC3-4C92-9846-0D7F7C91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0545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Local oscillator fLO = 1527.68 MHz. The navigation code and Doppler move with the carrier.</a:t>
            </a:r>
          </a:p>
        </p:txBody>
      </p:sp>
    </p:spTree>
    <p:extLst>
      <p:ext uri="{BB962C8B-B14F-4D97-AF65-F5344CB8AC3E}">
        <p14:creationId xmlns:p14="http://schemas.microsoft.com/office/powerpoint/2010/main" val="19853867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5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 LESSON 05  ·  IMAGE-FREQUENCY PROBL">
            <a:extLst xmlns:a="http://schemas.openxmlformats.org/drawingml/2006/main">
              <a:ext uri="{FF2B5EF4-FFF2-40B4-BE49-F238E27FC236}">
                <a16:creationId xmlns:a16="http://schemas.microsoft.com/office/drawing/2014/main" id="{798940E1-46B3-4083-90EF-707BDDE3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550A1"/>
                </a:solidFill>
                <a:latin typeface="Segoe UI"/>
                <a:ea typeface="Segoe UI"/>
                <a:cs typeface="Segoe UI"/>
              </a:rPr>
              <a:t>LESSON 05  ·  IMAGE-FREQUENCY PROBLEM</a:t>
            </a:r>
          </a:p>
        </p:txBody>
      </p:sp>
      <p:sp>
        <p:nvSpPr>
          <p:cNvPr id="2" name="text The mixer cannot tell which side of">
            <a:extLst xmlns:a="http://schemas.openxmlformats.org/drawingml/2006/main">
              <a:ext uri="{FF2B5EF4-FFF2-40B4-BE49-F238E27FC236}">
                <a16:creationId xmlns:a16="http://schemas.microsoft.com/office/drawing/2014/main" id="{C94B4E8E-2633-4696-AD66-3B08FF10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7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The mixer cannot tell which side of LO produced IF</a:t>
            </a:r>
          </a:p>
        </p:txBody>
      </p:sp>
      <p:sp>
        <p:nvSpPr>
          <p:cNvPr id="3" name="text Two input frequencies can map to th">
            <a:extLst xmlns:a="http://schemas.openxmlformats.org/drawingml/2006/main">
              <a:ext uri="{FF2B5EF4-FFF2-40B4-BE49-F238E27FC236}">
                <a16:creationId xmlns:a16="http://schemas.microsoft.com/office/drawing/2014/main" id="{39B052C1-B0F8-4953-8E1B-161B8342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Two input frequencies can map to the same output difference.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B03E7-8146-4C2D-8121-DE2D1C34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6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5" name="text GNSS FRONT END  |  NCGSA VIRTUAL GN">
            <a:extLst xmlns:a="http://schemas.openxmlformats.org/drawingml/2006/main">
              <a:ext uri="{FF2B5EF4-FFF2-40B4-BE49-F238E27FC236}">
                <a16:creationId xmlns:a16="http://schemas.microsoft.com/office/drawing/2014/main" id="{5FDC50F0-5DCC-4196-A095-9473278F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81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GNSS FRONT END  |  NCGSA VIRTUAL GNSS LABORATORY</a:t>
            </a:r>
          </a:p>
        </p:txBody>
      </p:sp>
      <p:sp>
        <p:nvSpPr>
          <p:cNvPr id="6" name="text 15">
            <a:extLst xmlns:a="http://schemas.openxmlformats.org/drawingml/2006/main">
              <a:ext uri="{FF2B5EF4-FFF2-40B4-BE49-F238E27FC236}">
                <a16:creationId xmlns:a16="http://schemas.microsoft.com/office/drawing/2014/main" id="{3C901AFA-1904-4938-A09D-254A84F6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A9288-F50F-4B9F-B9D5-B64C3255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34671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8" name="text IMAGE RF">
            <a:extLst xmlns:a="http://schemas.openxmlformats.org/drawingml/2006/main">
              <a:ext uri="{FF2B5EF4-FFF2-40B4-BE49-F238E27FC236}">
                <a16:creationId xmlns:a16="http://schemas.microsoft.com/office/drawing/2014/main" id="{E92590CD-7183-4847-A629-59826932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E550A1"/>
                </a:solidFill>
                <a:latin typeface="Segoe UI"/>
                <a:ea typeface="Segoe UI"/>
                <a:cs typeface="Segoe UI"/>
              </a:rPr>
              <a:t>IMAGE RF</a:t>
            </a:r>
          </a:p>
        </p:txBody>
      </p:sp>
      <p:sp>
        <p:nvSpPr>
          <p:cNvPr id="9" name="text 1479.94 MHz">
            <a:extLst xmlns:a="http://schemas.openxmlformats.org/drawingml/2006/main">
              <a:ext uri="{FF2B5EF4-FFF2-40B4-BE49-F238E27FC236}">
                <a16:creationId xmlns:a16="http://schemas.microsoft.com/office/drawing/2014/main" id="{71DAC4C6-E8E0-4B59-A13D-BBDF189A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3057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1479.94 MHz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91242-D8C0-4CAF-994B-DE58B47B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34671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1" name="text LOCAL OSCILLATOR">
            <a:extLst xmlns:a="http://schemas.openxmlformats.org/drawingml/2006/main">
              <a:ext uri="{FF2B5EF4-FFF2-40B4-BE49-F238E27FC236}">
                <a16:creationId xmlns:a16="http://schemas.microsoft.com/office/drawing/2014/main" id="{98A9D84B-B020-43E8-88A0-EACCA9EE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47925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A37AE8"/>
                </a:solidFill>
                <a:latin typeface="Segoe UI"/>
                <a:ea typeface="Segoe UI"/>
                <a:cs typeface="Segoe UI"/>
              </a:rPr>
              <a:t>LOCAL OSCILLATOR</a:t>
            </a:r>
          </a:p>
        </p:txBody>
      </p:sp>
      <p:sp>
        <p:nvSpPr>
          <p:cNvPr id="12" name="text 1527.68 MHz">
            <a:extLst xmlns:a="http://schemas.openxmlformats.org/drawingml/2006/main">
              <a:ext uri="{FF2B5EF4-FFF2-40B4-BE49-F238E27FC236}">
                <a16:creationId xmlns:a16="http://schemas.microsoft.com/office/drawing/2014/main" id="{A83405D2-2B53-41F7-8EFC-C90282B8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52750"/>
            <a:ext cx="3057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1527.68 MHz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28A443-7AE6-4AB5-800C-1E332CAF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34671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4" name="text WANTED GPS L1">
            <a:extLst xmlns:a="http://schemas.openxmlformats.org/drawingml/2006/main">
              <a:ext uri="{FF2B5EF4-FFF2-40B4-BE49-F238E27FC236}">
                <a16:creationId xmlns:a16="http://schemas.microsoft.com/office/drawing/2014/main" id="{2E0BD5CD-2D55-4B9C-8396-F258E7A1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47925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6B8D4"/>
                </a:solidFill>
                <a:latin typeface="Segoe UI"/>
                <a:ea typeface="Segoe UI"/>
                <a:cs typeface="Segoe UI"/>
              </a:rPr>
              <a:t>WANTED GPS L1</a:t>
            </a:r>
          </a:p>
        </p:txBody>
      </p:sp>
      <p:sp>
        <p:nvSpPr>
          <p:cNvPr id="15" name="text 1575.42 MHz">
            <a:extLst xmlns:a="http://schemas.openxmlformats.org/drawingml/2006/main">
              <a:ext uri="{FF2B5EF4-FFF2-40B4-BE49-F238E27FC236}">
                <a16:creationId xmlns:a16="http://schemas.microsoft.com/office/drawing/2014/main" id="{0CF3637B-989C-47BB-BEEB-85CB539B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52750"/>
            <a:ext cx="3057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1575.42 MHz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566531-68E4-4037-8BC8-D67A49A4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86225"/>
            <a:ext cx="8982075" cy="885825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7" name="text |1479.94 − 1527.68| = |1575.42 − 15">
            <a:extLst xmlns:a="http://schemas.openxmlformats.org/drawingml/2006/main">
              <a:ext uri="{FF2B5EF4-FFF2-40B4-BE49-F238E27FC236}">
                <a16:creationId xmlns:a16="http://schemas.microsoft.com/office/drawing/2014/main" id="{60AA4539-19A8-4A54-8996-9A72A540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276725"/>
            <a:ext cx="847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|1479.94 − 1527.68| = |1575.42 − 1527.68| = 47.74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34FD23-33F3-461E-9E56-BF368C29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10915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B5DECE-1C25-42A2-9164-5C588178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381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50A1"/>
          </a:solidFill>
          <a:ln xmlns:a="http://schemas.openxmlformats.org/drawingml/2006/main" w="0">
            <a:solidFill>
              <a:srgbClr val="E550A1"/>
            </a:solidFill>
            <a:prstDash val="solid"/>
          </a:ln>
        </p:spPr>
      </p:sp>
      <p:sp>
        <p:nvSpPr>
          <p:cNvPr id="20" name="text RF preselection rejects image-band ">
            <a:extLst xmlns:a="http://schemas.openxmlformats.org/drawingml/2006/main">
              <a:ext uri="{FF2B5EF4-FFF2-40B4-BE49-F238E27FC236}">
                <a16:creationId xmlns:a16="http://schemas.microsoft.com/office/drawing/2014/main" id="{4ABEE422-AF70-4BD2-8EDB-3C2E0B8B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0545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RF preselection rejects image-band energy before the mixer has made it indistinguishable.</a:t>
            </a:r>
          </a:p>
        </p:txBody>
      </p:sp>
    </p:spTree>
    <p:extLst>
      <p:ext uri="{BB962C8B-B14F-4D97-AF65-F5344CB8AC3E}">
        <p14:creationId xmlns:p14="http://schemas.microsoft.com/office/powerpoint/2010/main" val="13939743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5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text LESSON 06  ·  SAMPLING">
            <a:extLst xmlns:a="http://schemas.openxmlformats.org/drawingml/2006/main">
              <a:ext uri="{FF2B5EF4-FFF2-40B4-BE49-F238E27FC236}">
                <a16:creationId xmlns:a16="http://schemas.microsoft.com/office/drawing/2014/main" id="{7537D381-31CD-42E2-86FF-7DCE4E97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4DA4F4"/>
                </a:solidFill>
                <a:latin typeface="Segoe UI"/>
                <a:ea typeface="Segoe UI"/>
                <a:cs typeface="Segoe UI"/>
              </a:rPr>
              <a:t>LESSON 06  ·  SAMPLING</a:t>
            </a:r>
          </a:p>
        </p:txBody>
      </p:sp>
      <p:sp>
        <p:nvSpPr>
          <p:cNvPr id="2" name="text Sampling is a clocked measurement o">
            <a:extLst xmlns:a="http://schemas.openxmlformats.org/drawingml/2006/main">
              <a:ext uri="{FF2B5EF4-FFF2-40B4-BE49-F238E27FC236}">
                <a16:creationId xmlns:a16="http://schemas.microsoft.com/office/drawing/2014/main" id="{1E10C22B-69B8-404B-ACAE-CA278AA5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7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Sampling is a clocked measurement of the IF waveform</a:t>
            </a:r>
          </a:p>
        </p:txBody>
      </p:sp>
      <p:sp>
        <p:nvSpPr>
          <p:cNvPr id="3" name="text The sampling frequency governs spac">
            <a:extLst xmlns:a="http://schemas.openxmlformats.org/drawingml/2006/main">
              <a:ext uri="{FF2B5EF4-FFF2-40B4-BE49-F238E27FC236}">
                <a16:creationId xmlns:a16="http://schemas.microsoft.com/office/drawing/2014/main" id="{0449DEF6-DF5C-4394-BADD-569180E9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The sampling frequency governs spacing in time and the digital frequency map.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0AE60-C714-4C22-BB74-12AE3AB9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6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5" name="text GNSS FRONT END  |  NCGSA VIRTUAL GN">
            <a:extLst xmlns:a="http://schemas.openxmlformats.org/drawingml/2006/main">
              <a:ext uri="{FF2B5EF4-FFF2-40B4-BE49-F238E27FC236}">
                <a16:creationId xmlns:a16="http://schemas.microsoft.com/office/drawing/2014/main" id="{617F2BE4-F602-4D26-8F7B-2D3A006D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81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GNSS FRONT END  |  NCGSA VIRTUAL GNSS LABORATORY</a:t>
            </a:r>
          </a:p>
        </p:txBody>
      </p:sp>
      <p:sp>
        <p:nvSpPr>
          <p:cNvPr id="6" name="text 16">
            <a:extLst xmlns:a="http://schemas.openxmlformats.org/drawingml/2006/main">
              <a:ext uri="{FF2B5EF4-FFF2-40B4-BE49-F238E27FC236}">
                <a16:creationId xmlns:a16="http://schemas.microsoft.com/office/drawing/2014/main" id="{E9106F69-6005-48C2-BABE-CA1BC09A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9AC8B-DA41-4021-8029-9DC7D16E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43125"/>
            <a:ext cx="10991850" cy="280035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27FE6-4CCF-4D8E-828E-0C97835D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10001250" cy="1552575"/>
          </a:xfrm>
          <a:custGeom xmlns:a="http://schemas.openxmlformats.org/drawingml/2006/main">
            <a:pathLst>
              <a:path w="10001250" h="1552575">
                <a:moveTo>
                  <a:pt x="0" y="776288"/>
                </a:moveTo>
                <a:lnTo>
                  <a:pt x="100013" y="509341"/>
                </a:lnTo>
                <a:lnTo>
                  <a:pt x="200025" y="308434"/>
                </a:lnTo>
                <a:lnTo>
                  <a:pt x="300038" y="223267"/>
                </a:lnTo>
                <a:lnTo>
                  <a:pt x="400050" y="274910"/>
                </a:lnTo>
                <a:lnTo>
                  <a:pt x="500063" y="450587"/>
                </a:lnTo>
                <a:lnTo>
                  <a:pt x="600075" y="706839"/>
                </a:lnTo>
                <a:lnTo>
                  <a:pt x="700088" y="980270"/>
                </a:lnTo>
                <a:lnTo>
                  <a:pt x="800100" y="1203240"/>
                </a:lnTo>
                <a:lnTo>
                  <a:pt x="900113" y="1320587"/>
                </a:lnTo>
                <a:lnTo>
                  <a:pt x="1000125" y="1303281"/>
                </a:lnTo>
                <a:lnTo>
                  <a:pt x="1100138" y="1155605"/>
                </a:lnTo>
                <a:lnTo>
                  <a:pt x="1200150" y="914090"/>
                </a:lnTo>
                <a:lnTo>
                  <a:pt x="1300163" y="638485"/>
                </a:lnTo>
                <a:lnTo>
                  <a:pt x="1400175" y="396970"/>
                </a:lnTo>
                <a:lnTo>
                  <a:pt x="1500188" y="249294"/>
                </a:lnTo>
                <a:lnTo>
                  <a:pt x="1600200" y="231988"/>
                </a:lnTo>
                <a:lnTo>
                  <a:pt x="1700213" y="349335"/>
                </a:lnTo>
                <a:lnTo>
                  <a:pt x="1800225" y="572305"/>
                </a:lnTo>
                <a:lnTo>
                  <a:pt x="1900238" y="845736"/>
                </a:lnTo>
                <a:lnTo>
                  <a:pt x="2000250" y="1101988"/>
                </a:lnTo>
                <a:lnTo>
                  <a:pt x="2100263" y="1277665"/>
                </a:lnTo>
                <a:lnTo>
                  <a:pt x="2200275" y="1329308"/>
                </a:lnTo>
                <a:lnTo>
                  <a:pt x="2300288" y="1244141"/>
                </a:lnTo>
                <a:lnTo>
                  <a:pt x="2400300" y="1043234"/>
                </a:lnTo>
                <a:lnTo>
                  <a:pt x="2500313" y="776288"/>
                </a:lnTo>
                <a:lnTo>
                  <a:pt x="2600325" y="509341"/>
                </a:lnTo>
                <a:lnTo>
                  <a:pt x="2700338" y="308434"/>
                </a:lnTo>
                <a:lnTo>
                  <a:pt x="2800350" y="223267"/>
                </a:lnTo>
                <a:lnTo>
                  <a:pt x="2900363" y="274910"/>
                </a:lnTo>
                <a:lnTo>
                  <a:pt x="3000375" y="450587"/>
                </a:lnTo>
                <a:lnTo>
                  <a:pt x="3100388" y="706839"/>
                </a:lnTo>
                <a:lnTo>
                  <a:pt x="3200400" y="980270"/>
                </a:lnTo>
                <a:lnTo>
                  <a:pt x="3300413" y="1203240"/>
                </a:lnTo>
                <a:lnTo>
                  <a:pt x="3400425" y="1320587"/>
                </a:lnTo>
                <a:lnTo>
                  <a:pt x="3500438" y="1303281"/>
                </a:lnTo>
                <a:lnTo>
                  <a:pt x="3600450" y="1155605"/>
                </a:lnTo>
                <a:lnTo>
                  <a:pt x="3700463" y="914090"/>
                </a:lnTo>
                <a:lnTo>
                  <a:pt x="3800475" y="638485"/>
                </a:lnTo>
                <a:lnTo>
                  <a:pt x="3900488" y="396970"/>
                </a:lnTo>
                <a:lnTo>
                  <a:pt x="4000500" y="249294"/>
                </a:lnTo>
                <a:lnTo>
                  <a:pt x="4100513" y="231988"/>
                </a:lnTo>
                <a:lnTo>
                  <a:pt x="4200525" y="349335"/>
                </a:lnTo>
                <a:lnTo>
                  <a:pt x="4300538" y="572305"/>
                </a:lnTo>
                <a:lnTo>
                  <a:pt x="4400550" y="845736"/>
                </a:lnTo>
                <a:lnTo>
                  <a:pt x="4500563" y="1101988"/>
                </a:lnTo>
                <a:lnTo>
                  <a:pt x="4600575" y="1277665"/>
                </a:lnTo>
                <a:lnTo>
                  <a:pt x="4700588" y="1329308"/>
                </a:lnTo>
                <a:lnTo>
                  <a:pt x="4800600" y="1244141"/>
                </a:lnTo>
                <a:lnTo>
                  <a:pt x="4900613" y="1043234"/>
                </a:lnTo>
                <a:lnTo>
                  <a:pt x="5000625" y="776288"/>
                </a:lnTo>
                <a:lnTo>
                  <a:pt x="5100638" y="509341"/>
                </a:lnTo>
                <a:lnTo>
                  <a:pt x="5200650" y="308434"/>
                </a:lnTo>
                <a:lnTo>
                  <a:pt x="5300663" y="223267"/>
                </a:lnTo>
                <a:lnTo>
                  <a:pt x="5400675" y="274910"/>
                </a:lnTo>
                <a:lnTo>
                  <a:pt x="5500688" y="450587"/>
                </a:lnTo>
                <a:lnTo>
                  <a:pt x="5600700" y="706839"/>
                </a:lnTo>
                <a:lnTo>
                  <a:pt x="5700713" y="980270"/>
                </a:lnTo>
                <a:lnTo>
                  <a:pt x="5800725" y="1203240"/>
                </a:lnTo>
                <a:lnTo>
                  <a:pt x="5900738" y="1320587"/>
                </a:lnTo>
                <a:lnTo>
                  <a:pt x="6000750" y="1303281"/>
                </a:lnTo>
                <a:lnTo>
                  <a:pt x="6100763" y="1155605"/>
                </a:lnTo>
                <a:lnTo>
                  <a:pt x="6200775" y="914090"/>
                </a:lnTo>
                <a:lnTo>
                  <a:pt x="6300788" y="638485"/>
                </a:lnTo>
                <a:lnTo>
                  <a:pt x="6400800" y="396970"/>
                </a:lnTo>
                <a:lnTo>
                  <a:pt x="6500813" y="249294"/>
                </a:lnTo>
                <a:lnTo>
                  <a:pt x="6600825" y="231988"/>
                </a:lnTo>
                <a:lnTo>
                  <a:pt x="6700838" y="349335"/>
                </a:lnTo>
                <a:lnTo>
                  <a:pt x="6800850" y="572305"/>
                </a:lnTo>
                <a:lnTo>
                  <a:pt x="6900863" y="845736"/>
                </a:lnTo>
                <a:lnTo>
                  <a:pt x="7000875" y="1101988"/>
                </a:lnTo>
                <a:lnTo>
                  <a:pt x="7100888" y="1277665"/>
                </a:lnTo>
                <a:lnTo>
                  <a:pt x="7200900" y="1329308"/>
                </a:lnTo>
                <a:lnTo>
                  <a:pt x="7300913" y="1244141"/>
                </a:lnTo>
                <a:lnTo>
                  <a:pt x="7400925" y="1043234"/>
                </a:lnTo>
                <a:lnTo>
                  <a:pt x="7500938" y="776288"/>
                </a:lnTo>
                <a:lnTo>
                  <a:pt x="7600950" y="509341"/>
                </a:lnTo>
                <a:lnTo>
                  <a:pt x="7700963" y="308434"/>
                </a:lnTo>
                <a:lnTo>
                  <a:pt x="7800975" y="223267"/>
                </a:lnTo>
                <a:lnTo>
                  <a:pt x="7900988" y="274910"/>
                </a:lnTo>
                <a:lnTo>
                  <a:pt x="8001000" y="450587"/>
                </a:lnTo>
                <a:lnTo>
                  <a:pt x="8101013" y="706839"/>
                </a:lnTo>
                <a:lnTo>
                  <a:pt x="8201025" y="980270"/>
                </a:lnTo>
                <a:lnTo>
                  <a:pt x="8301038" y="1203240"/>
                </a:lnTo>
                <a:lnTo>
                  <a:pt x="8401050" y="1320587"/>
                </a:lnTo>
                <a:lnTo>
                  <a:pt x="8501063" y="1303281"/>
                </a:lnTo>
                <a:lnTo>
                  <a:pt x="8601075" y="1155605"/>
                </a:lnTo>
                <a:lnTo>
                  <a:pt x="8701088" y="914090"/>
                </a:lnTo>
                <a:lnTo>
                  <a:pt x="8801100" y="638485"/>
                </a:lnTo>
                <a:lnTo>
                  <a:pt x="8901113" y="396970"/>
                </a:lnTo>
                <a:lnTo>
                  <a:pt x="9001125" y="249294"/>
                </a:lnTo>
                <a:lnTo>
                  <a:pt x="9101138" y="231988"/>
                </a:lnTo>
                <a:lnTo>
                  <a:pt x="9201150" y="349335"/>
                </a:lnTo>
                <a:lnTo>
                  <a:pt x="9301163" y="572305"/>
                </a:lnTo>
                <a:lnTo>
                  <a:pt x="9401175" y="845736"/>
                </a:lnTo>
                <a:lnTo>
                  <a:pt x="9501188" y="1101988"/>
                </a:lnTo>
                <a:lnTo>
                  <a:pt x="9601200" y="1277665"/>
                </a:lnTo>
                <a:lnTo>
                  <a:pt x="9701213" y="1329308"/>
                </a:lnTo>
                <a:lnTo>
                  <a:pt x="9801225" y="1244141"/>
                </a:lnTo>
                <a:lnTo>
                  <a:pt x="9901238" y="1043234"/>
                </a:lnTo>
                <a:lnTo>
                  <a:pt x="10001250" y="776288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6B8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95ACE-9AA8-42D0-86C0-F8531E28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574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A4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CE3D5-5946-40A5-B81F-CC82DCCC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F8A64-CC4E-483B-B774-160B928C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431" y="26574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A4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6BE738-39E0-4EA6-ADAA-257F3426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398205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0783B5-AE1A-4946-8FCC-F4C89953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113" y="26574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A4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0779B0-E8A6-48D0-9D11-8AB2F5F0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488" y="37744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6407F7-AB93-4C47-912A-19C6156B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794" y="26574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A4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1E75AE-0BEA-42B1-A3F9-D7199A40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169" y="31026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348174-BF4B-4702-BBE2-ED1835F1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574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A4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10FF42-2F42-4622-AFF3-32F846D5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9499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D058F-8EE9-4D84-812B-0A22F8BF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156" y="26574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A4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0DDD5E-BB5D-4371-B2C8-949C5052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531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9ADB5C-6893-451B-A152-35A25EE9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838" y="26574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A4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DA06E8-F01B-401D-9C76-E98F0CE0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213" y="398205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2C979F-9DE5-4C12-8022-1582DBDD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1519" y="26574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A4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C84A7B-C5F5-490D-BDD3-E1B41B40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894" y="37744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83A556-BA0F-4873-837F-C578813A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574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A4F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A62008-4733-4CDC-84E8-59C1FA59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1026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C52A49-5FA1-43F9-87A5-3C35B3CE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881" y="26574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A4F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7A4D14-CC45-45B7-8421-968F9DFF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9256" y="289499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72E9FD-1C8B-4DB6-B165-7EB8CBE7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563" y="26574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A4F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100355-7EE7-4A43-AEB7-BD30460F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5F0F2E-14FB-4172-9F92-1A9B8B9A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2244" y="26574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A4F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CDBBE0-487C-4376-8833-7B4A161E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4619" y="398205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DE389E-B988-41AF-878B-7AF18AA7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6574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A4F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C65899-E6A6-44F8-A1AE-FBC30661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744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E66E27-333C-4685-B218-EB6D5819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606" y="26574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A4F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D7A740-432A-4D17-B96B-B7046DDC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981" y="31026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2EA2F0-0A67-4CE3-9C99-C28B5947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5288" y="26574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A4F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D522DD-314C-4695-B826-E8B65371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663" y="289499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9EDC29-BA14-442A-8626-5E4328D7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2969" y="26574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A4F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DCB6C4-BC13-4477-AC48-DB222FDE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5344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63A9FB-B6B0-41A3-AC6F-0E5FB23D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574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A4F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2E0CFE-EB49-40D8-B4A3-8C074E25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98205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3593E9-6F6E-4EB2-B282-95D0C081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8331" y="26574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A4F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AC6C9B-851A-4191-8B67-F41D50C8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706" y="37744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CA20FD-908C-4A89-895A-2B8829F8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13" y="26574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A4F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81AC48-6E24-46EF-9ACA-5332BD3E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8388" y="31026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03D4A3-3E24-4F19-B5B1-514DA1ED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3694" y="26574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A4F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D1F2A4-0A8F-4948-B2DA-72F5AD2A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6069" y="289499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634CB2-01E8-4636-971D-09752B88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6574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A4F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1371A6-118D-468E-818F-CFCE3373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51" name="text Sample instants tₙ = n / fₛ    |   ">
            <a:extLst xmlns:a="http://schemas.openxmlformats.org/drawingml/2006/main">
              <a:ext uri="{FF2B5EF4-FFF2-40B4-BE49-F238E27FC236}">
                <a16:creationId xmlns:a16="http://schemas.microsoft.com/office/drawing/2014/main" id="{4EFAF473-F2B6-4A92-852F-B28BE101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57700"/>
            <a:ext cx="995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2B541"/>
                </a:solidFill>
                <a:latin typeface="Segoe UI"/>
                <a:ea typeface="Segoe UI"/>
                <a:cs typeface="Segoe UI"/>
              </a:rPr>
              <a:t>Sample instants tₙ = n / fₛ    |    Time step Tₛ = 1 / fₛ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CBB20B9-B77A-4D53-85B7-1814A894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10915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6D61E64-5227-4CA2-8D97-650295DB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381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A4F4"/>
          </a:solidFill>
          <a:ln xmlns:a="http://schemas.openxmlformats.org/drawingml/2006/main" w="0">
            <a:solidFill>
              <a:srgbClr val="4DA4F4"/>
            </a:solidFill>
            <a:prstDash val="solid"/>
          </a:ln>
        </p:spPr>
      </p:sp>
      <p:sp>
        <p:nvSpPr>
          <p:cNvPr id="54" name="text For fₛ = 38.192 MS/s, each sample i">
            <a:extLst xmlns:a="http://schemas.openxmlformats.org/drawingml/2006/main">
              <a:ext uri="{FF2B5EF4-FFF2-40B4-BE49-F238E27FC236}">
                <a16:creationId xmlns:a16="http://schemas.microsoft.com/office/drawing/2014/main" id="{E14BD753-5E61-4E40-9A0F-3C5880CF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0545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For fₛ = 38.192 MS/s, each sample is separated by ≈ 26.18 ns.</a:t>
            </a:r>
          </a:p>
        </p:txBody>
      </p:sp>
    </p:spTree>
    <p:extLst>
      <p:ext uri="{BB962C8B-B14F-4D97-AF65-F5344CB8AC3E}">
        <p14:creationId xmlns:p14="http://schemas.microsoft.com/office/powerpoint/2010/main" val="17527924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5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 LESSON 06  ·  BANDPASS SAMPLING">
            <a:extLst xmlns:a="http://schemas.openxmlformats.org/drawingml/2006/main">
              <a:ext uri="{FF2B5EF4-FFF2-40B4-BE49-F238E27FC236}">
                <a16:creationId xmlns:a16="http://schemas.microsoft.com/office/drawing/2014/main" id="{6E7D277D-2EA2-4F3B-9EFB-F3B58779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4DA4F4"/>
                </a:solidFill>
                <a:latin typeface="Segoe UI"/>
                <a:ea typeface="Segoe UI"/>
                <a:cs typeface="Segoe UI"/>
              </a:rPr>
              <a:t>LESSON 06  ·  BANDPASS SAMPLING</a:t>
            </a:r>
          </a:p>
        </p:txBody>
      </p:sp>
      <p:sp>
        <p:nvSpPr>
          <p:cNvPr id="2" name="text A higher analog IF can fold to a lo">
            <a:extLst xmlns:a="http://schemas.openxmlformats.org/drawingml/2006/main">
              <a:ext uri="{FF2B5EF4-FFF2-40B4-BE49-F238E27FC236}">
                <a16:creationId xmlns:a16="http://schemas.microsoft.com/office/drawing/2014/main" id="{3DBC53CE-919C-4A67-9C7D-60F4B59A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7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A higher analog IF can fold to a lower digital IF</a:t>
            </a:r>
          </a:p>
        </p:txBody>
      </p:sp>
      <p:sp>
        <p:nvSpPr>
          <p:cNvPr id="3" name="text This works only when the entire occ">
            <a:extLst xmlns:a="http://schemas.openxmlformats.org/drawingml/2006/main">
              <a:ext uri="{FF2B5EF4-FFF2-40B4-BE49-F238E27FC236}">
                <a16:creationId xmlns:a16="http://schemas.microsoft.com/office/drawing/2014/main" id="{DA1CB2F8-CA12-4662-BD21-6D94B644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This works only when the entire occupied band folds without overlapping copies.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87807-6B31-4E55-8793-5317FDAC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6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5" name="text GNSS FRONT END  |  NCGSA VIRTUAL GN">
            <a:extLst xmlns:a="http://schemas.openxmlformats.org/drawingml/2006/main">
              <a:ext uri="{FF2B5EF4-FFF2-40B4-BE49-F238E27FC236}">
                <a16:creationId xmlns:a16="http://schemas.microsoft.com/office/drawing/2014/main" id="{C70016EF-97F0-47EF-89E1-AB78049C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81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GNSS FRONT END  |  NCGSA VIRTUAL GNSS LABORATORY</a:t>
            </a:r>
          </a:p>
        </p:txBody>
      </p:sp>
      <p:sp>
        <p:nvSpPr>
          <p:cNvPr id="6" name="text 17">
            <a:extLst xmlns:a="http://schemas.openxmlformats.org/drawingml/2006/main">
              <a:ext uri="{FF2B5EF4-FFF2-40B4-BE49-F238E27FC236}">
                <a16:creationId xmlns:a16="http://schemas.microsoft.com/office/drawing/2014/main" id="{8EE83C5C-F69D-434A-90DD-7D2F9CAB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A1E2D-1BB0-494B-8E46-1083E084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3147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8" name="text 44.74–50.74">
            <a:extLst xmlns:a="http://schemas.openxmlformats.org/drawingml/2006/main">
              <a:ext uri="{FF2B5EF4-FFF2-40B4-BE49-F238E27FC236}">
                <a16:creationId xmlns:a16="http://schemas.microsoft.com/office/drawing/2014/main" id="{73E78CA1-F80A-4B96-AD5A-DEF6DF76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3105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6B8D4"/>
                </a:solidFill>
                <a:latin typeface="Segoe UI"/>
                <a:ea typeface="Segoe UI"/>
                <a:cs typeface="Segoe UI"/>
              </a:rPr>
              <a:t>44.74–50.74</a:t>
            </a:r>
          </a:p>
        </p:txBody>
      </p:sp>
      <p:sp>
        <p:nvSpPr>
          <p:cNvPr id="9" name="text Analog passband (MHz)">
            <a:extLst xmlns:a="http://schemas.openxmlformats.org/drawingml/2006/main">
              <a:ext uri="{FF2B5EF4-FFF2-40B4-BE49-F238E27FC236}">
                <a16:creationId xmlns:a16="http://schemas.microsoft.com/office/drawing/2014/main" id="{A77615DD-2301-4DF4-A377-5BE167B6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62225"/>
            <a:ext cx="31051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Analog passband (MHz)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86398-6B02-4C7F-AAFC-6EBF3B5D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76450"/>
            <a:ext cx="33147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1" name="text 38.192">
            <a:extLst xmlns:a="http://schemas.openxmlformats.org/drawingml/2006/main">
              <a:ext uri="{FF2B5EF4-FFF2-40B4-BE49-F238E27FC236}">
                <a16:creationId xmlns:a16="http://schemas.microsoft.com/office/drawing/2014/main" id="{E2519708-CE98-4768-93F7-3090B1D6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71700"/>
            <a:ext cx="3105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2B541"/>
                </a:solidFill>
                <a:latin typeface="Segoe UI"/>
                <a:ea typeface="Segoe UI"/>
                <a:cs typeface="Segoe UI"/>
              </a:rPr>
              <a:t>38.192</a:t>
            </a:r>
          </a:p>
        </p:txBody>
      </p:sp>
      <p:sp>
        <p:nvSpPr>
          <p:cNvPr id="12" name="text Sampling clock (MS/s)">
            <a:extLst xmlns:a="http://schemas.openxmlformats.org/drawingml/2006/main">
              <a:ext uri="{FF2B5EF4-FFF2-40B4-BE49-F238E27FC236}">
                <a16:creationId xmlns:a16="http://schemas.microsoft.com/office/drawing/2014/main" id="{485CC597-49FC-469F-8AF5-27122A88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62225"/>
            <a:ext cx="31051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Sampling clock (MS/s)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6D8D9D-6334-4842-BAD3-D072513D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076450"/>
            <a:ext cx="33147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4" name="text 6.548–12.548">
            <a:extLst xmlns:a="http://schemas.openxmlformats.org/drawingml/2006/main">
              <a:ext uri="{FF2B5EF4-FFF2-40B4-BE49-F238E27FC236}">
                <a16:creationId xmlns:a16="http://schemas.microsoft.com/office/drawing/2014/main" id="{A8AC9F71-4C72-4F1E-B51C-92CF1976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71700"/>
            <a:ext cx="3105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4C29A"/>
                </a:solidFill>
                <a:latin typeface="Segoe UI"/>
                <a:ea typeface="Segoe UI"/>
                <a:cs typeface="Segoe UI"/>
              </a:rPr>
              <a:t>6.548–12.548</a:t>
            </a:r>
          </a:p>
        </p:txBody>
      </p:sp>
      <p:sp>
        <p:nvSpPr>
          <p:cNvPr id="15" name="text Digital band (MHz)">
            <a:extLst xmlns:a="http://schemas.openxmlformats.org/drawingml/2006/main">
              <a:ext uri="{FF2B5EF4-FFF2-40B4-BE49-F238E27FC236}">
                <a16:creationId xmlns:a16="http://schemas.microsoft.com/office/drawing/2014/main" id="{FBFA2326-D9F1-4CCD-A44E-BE797E0B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62225"/>
            <a:ext cx="31051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Digital band (MHz)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AC6E87-913B-41F4-AEF0-D33D4B1D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76675"/>
            <a:ext cx="10429875" cy="1114425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7" name="text fIF,digital = 47.740 − 38.192 = 9.5">
            <a:extLst xmlns:a="http://schemas.openxmlformats.org/drawingml/2006/main">
              <a:ext uri="{FF2B5EF4-FFF2-40B4-BE49-F238E27FC236}">
                <a16:creationId xmlns:a16="http://schemas.microsoft.com/office/drawing/2014/main" id="{0F9A4CEA-0F70-47B3-A79C-FC35112A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76700"/>
            <a:ext cx="10067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4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4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4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4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4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4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4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4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4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fIF,digital = 47.740 − 38.192 = 9.548 MHz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1B5BC2-9FC3-41AA-9619-AB4CB4AD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10915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62F881-B5A6-451D-A37C-B5FC0958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381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A4F4"/>
          </a:solidFill>
          <a:ln xmlns:a="http://schemas.openxmlformats.org/drawingml/2006/main" w="0">
            <a:solidFill>
              <a:srgbClr val="4DA4F4"/>
            </a:solidFill>
            <a:prstDash val="solid"/>
          </a:ln>
        </p:spPr>
      </p:sp>
      <p:sp>
        <p:nvSpPr>
          <p:cNvPr id="20" name="text Digital Nyquist limit = fₛ/2 = 19.0">
            <a:extLst xmlns:a="http://schemas.openxmlformats.org/drawingml/2006/main">
              <a:ext uri="{FF2B5EF4-FFF2-40B4-BE49-F238E27FC236}">
                <a16:creationId xmlns:a16="http://schemas.microsoft.com/office/drawing/2014/main" id="{8974C0AC-670F-475F-8810-67B8D59D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6735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Digital Nyquist limit = fₛ/2 = 19.096 MHz; the 6 MHz band remains inside 0–19.096 MHz.</a:t>
            </a:r>
          </a:p>
        </p:txBody>
      </p:sp>
    </p:spTree>
    <p:extLst>
      <p:ext uri="{BB962C8B-B14F-4D97-AF65-F5344CB8AC3E}">
        <p14:creationId xmlns:p14="http://schemas.microsoft.com/office/powerpoint/2010/main" val="3207962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5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 LESSON 06  ·  DASHBOARD EXPERIMENT">
            <a:extLst xmlns:a="http://schemas.openxmlformats.org/drawingml/2006/main">
              <a:ext uri="{FF2B5EF4-FFF2-40B4-BE49-F238E27FC236}">
                <a16:creationId xmlns:a16="http://schemas.microsoft.com/office/drawing/2014/main" id="{8F965250-9DC6-4E5F-B025-A0BA552B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4DA4F4"/>
                </a:solidFill>
                <a:latin typeface="Segoe UI"/>
                <a:ea typeface="Segoe UI"/>
                <a:cs typeface="Segoe UI"/>
              </a:rPr>
              <a:t>LESSON 06  ·  DASHBOARD EXPERIMENT</a:t>
            </a:r>
          </a:p>
        </p:txBody>
      </p:sp>
      <p:sp>
        <p:nvSpPr>
          <p:cNvPr id="2" name="text Choosing fₛ is a band-overlap probl">
            <a:extLst xmlns:a="http://schemas.openxmlformats.org/drawingml/2006/main">
              <a:ext uri="{FF2B5EF4-FFF2-40B4-BE49-F238E27FC236}">
                <a16:creationId xmlns:a16="http://schemas.microsoft.com/office/drawing/2014/main" id="{27697D08-967A-4DB5-9F12-4605FB7D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7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Choosing fₛ is a band-overlap problem</a:t>
            </a:r>
          </a:p>
        </p:txBody>
      </p:sp>
      <p:sp>
        <p:nvSpPr>
          <p:cNvPr id="3" name="text The IF centre alone is not enough: ">
            <a:extLst xmlns:a="http://schemas.openxmlformats.org/drawingml/2006/main">
              <a:ext uri="{FF2B5EF4-FFF2-40B4-BE49-F238E27FC236}">
                <a16:creationId xmlns:a16="http://schemas.microsoft.com/office/drawing/2014/main" id="{85CF1F65-FDFF-4B36-BDF5-8EA70240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The IF centre alone is not enough: test both edges of the occupied spectrum.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EA5FB-60BE-43D9-8255-A5D0C477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6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5" name="text GNSS FRONT END  |  NCGSA VIRTUAL GN">
            <a:extLst xmlns:a="http://schemas.openxmlformats.org/drawingml/2006/main">
              <a:ext uri="{FF2B5EF4-FFF2-40B4-BE49-F238E27FC236}">
                <a16:creationId xmlns:a16="http://schemas.microsoft.com/office/drawing/2014/main" id="{4B9CA58D-CBE6-4178-90C9-0DCB32C6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81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GNSS FRONT END  |  NCGSA VIRTUAL GNSS LABORATORY</a:t>
            </a:r>
          </a:p>
        </p:txBody>
      </p:sp>
      <p:sp>
        <p:nvSpPr>
          <p:cNvPr id="6" name="text 18">
            <a:extLst xmlns:a="http://schemas.openxmlformats.org/drawingml/2006/main">
              <a:ext uri="{FF2B5EF4-FFF2-40B4-BE49-F238E27FC236}">
                <a16:creationId xmlns:a16="http://schemas.microsoft.com/office/drawing/2014/main" id="{796E1A94-0CE7-408D-AC19-0358534B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8D803-98B9-40B7-81EE-319EC709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19325"/>
            <a:ext cx="10763250" cy="695325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8" name="text 38.192 MS/s">
            <a:extLst xmlns:a="http://schemas.openxmlformats.org/drawingml/2006/main">
              <a:ext uri="{FF2B5EF4-FFF2-40B4-BE49-F238E27FC236}">
                <a16:creationId xmlns:a16="http://schemas.microsoft.com/office/drawing/2014/main" id="{FE2C7FAE-BD30-4775-A0BB-CD4C24EB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38.192 MS/s</a:t>
            </a:r>
          </a:p>
        </p:txBody>
      </p:sp>
      <p:sp>
        <p:nvSpPr>
          <p:cNvPr id="9" name="text Valid">
            <a:extLst xmlns:a="http://schemas.openxmlformats.org/drawingml/2006/main">
              <a:ext uri="{FF2B5EF4-FFF2-40B4-BE49-F238E27FC236}">
                <a16:creationId xmlns:a16="http://schemas.microsoft.com/office/drawing/2014/main" id="{75F767C7-CFE7-4924-AF49-6426C06F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333625"/>
            <a:ext cx="1638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4C29A"/>
                </a:solidFill>
                <a:latin typeface="Segoe UI"/>
                <a:ea typeface="Segoe UI"/>
                <a:cs typeface="Segoe UI"/>
              </a:rPr>
              <a:t>Valid</a:t>
            </a:r>
          </a:p>
        </p:txBody>
      </p:sp>
      <p:sp>
        <p:nvSpPr>
          <p:cNvPr id="10" name="text Example design">
            <a:extLst xmlns:a="http://schemas.openxmlformats.org/drawingml/2006/main">
              <a:ext uri="{FF2B5EF4-FFF2-40B4-BE49-F238E27FC236}">
                <a16:creationId xmlns:a16="http://schemas.microsoft.com/office/drawing/2014/main" id="{4AB55AF4-564C-4259-B326-DA53A66C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336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Example 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8C098-CE70-42F1-99BE-0094E9DD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38475"/>
            <a:ext cx="10763250" cy="695325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2" name="text 28 MS/s">
            <a:extLst xmlns:a="http://schemas.openxmlformats.org/drawingml/2006/main">
              <a:ext uri="{FF2B5EF4-FFF2-40B4-BE49-F238E27FC236}">
                <a16:creationId xmlns:a16="http://schemas.microsoft.com/office/drawing/2014/main" id="{514CB141-4E81-429A-8EF7-A76812C7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52775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28 MS/s</a:t>
            </a:r>
          </a:p>
        </p:txBody>
      </p:sp>
      <p:sp>
        <p:nvSpPr>
          <p:cNvPr id="13" name="text Valid*">
            <a:extLst xmlns:a="http://schemas.openxmlformats.org/drawingml/2006/main">
              <a:ext uri="{FF2B5EF4-FFF2-40B4-BE49-F238E27FC236}">
                <a16:creationId xmlns:a16="http://schemas.microsoft.com/office/drawing/2014/main" id="{BF9EAC2A-879E-469F-B455-CD1E86FA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152775"/>
            <a:ext cx="1638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2B541"/>
                </a:solidFill>
                <a:latin typeface="Segoe UI"/>
                <a:ea typeface="Segoe UI"/>
                <a:cs typeface="Segoe UI"/>
              </a:rPr>
              <a:t>Valid*</a:t>
            </a:r>
          </a:p>
        </p:txBody>
      </p:sp>
      <p:sp>
        <p:nvSpPr>
          <p:cNvPr id="14" name="text Inverted spectral ordering">
            <a:extLst xmlns:a="http://schemas.openxmlformats.org/drawingml/2006/main">
              <a:ext uri="{FF2B5EF4-FFF2-40B4-BE49-F238E27FC236}">
                <a16:creationId xmlns:a16="http://schemas.microsoft.com/office/drawing/2014/main" id="{698F24AD-05F6-4024-9BE6-BD82DB81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527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Inverted spectral ordering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79BB0-D873-4531-ACC1-1525E93A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57625"/>
            <a:ext cx="10763250" cy="695325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6" name="text 30 MS/s">
            <a:extLst xmlns:a="http://schemas.openxmlformats.org/drawingml/2006/main">
              <a:ext uri="{FF2B5EF4-FFF2-40B4-BE49-F238E27FC236}">
                <a16:creationId xmlns:a16="http://schemas.microsoft.com/office/drawing/2014/main" id="{3A73454C-C279-4D65-B87A-9E735052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71925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30 MS/s</a:t>
            </a:r>
          </a:p>
        </p:txBody>
      </p:sp>
      <p:sp>
        <p:nvSpPr>
          <p:cNvPr id="17" name="text Problem">
            <a:extLst xmlns:a="http://schemas.openxmlformats.org/drawingml/2006/main">
              <a:ext uri="{FF2B5EF4-FFF2-40B4-BE49-F238E27FC236}">
                <a16:creationId xmlns:a16="http://schemas.microsoft.com/office/drawing/2014/main" id="{D8407EC0-A9BC-4B40-BF53-1DA9B97E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971925"/>
            <a:ext cx="1638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E550A1"/>
                </a:solidFill>
                <a:latin typeface="Segoe UI"/>
                <a:ea typeface="Segoe UI"/>
                <a:cs typeface="Segoe UI"/>
              </a:rPr>
              <a:t>Problem</a:t>
            </a:r>
          </a:p>
        </p:txBody>
      </p:sp>
      <p:sp>
        <p:nvSpPr>
          <p:cNvPr id="18" name="text Band crosses a folding boundary">
            <a:extLst xmlns:a="http://schemas.openxmlformats.org/drawingml/2006/main">
              <a:ext uri="{FF2B5EF4-FFF2-40B4-BE49-F238E27FC236}">
                <a16:creationId xmlns:a16="http://schemas.microsoft.com/office/drawing/2014/main" id="{001EAD6B-FD65-4D94-8422-6393D5CF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719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Band crosses a folding boundary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9609B-6BE4-4ACB-A1C5-368246F0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76775"/>
            <a:ext cx="10763250" cy="695325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20" name="text 47.74 MS/s">
            <a:extLst xmlns:a="http://schemas.openxmlformats.org/drawingml/2006/main">
              <a:ext uri="{FF2B5EF4-FFF2-40B4-BE49-F238E27FC236}">
                <a16:creationId xmlns:a16="http://schemas.microsoft.com/office/drawing/2014/main" id="{229FF6AC-C0D0-4F5F-8A1E-ECD0E4A2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91075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47.74 MS/s</a:t>
            </a:r>
          </a:p>
        </p:txBody>
      </p:sp>
      <p:sp>
        <p:nvSpPr>
          <p:cNvPr id="21" name="text Problem">
            <a:extLst xmlns:a="http://schemas.openxmlformats.org/drawingml/2006/main">
              <a:ext uri="{FF2B5EF4-FFF2-40B4-BE49-F238E27FC236}">
                <a16:creationId xmlns:a16="http://schemas.microsoft.com/office/drawing/2014/main" id="{AEBF7700-B935-4A41-982B-11BEB648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91075"/>
            <a:ext cx="1638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E550A1"/>
                </a:solidFill>
                <a:latin typeface="Segoe UI"/>
                <a:ea typeface="Segoe UI"/>
                <a:cs typeface="Segoe UI"/>
              </a:rPr>
              <a:t>Problem</a:t>
            </a:r>
          </a:p>
        </p:txBody>
      </p:sp>
      <p:sp>
        <p:nvSpPr>
          <p:cNvPr id="22" name="text IF folds across zero">
            <a:extLst xmlns:a="http://schemas.openxmlformats.org/drawingml/2006/main">
              <a:ext uri="{FF2B5EF4-FFF2-40B4-BE49-F238E27FC236}">
                <a16:creationId xmlns:a16="http://schemas.microsoft.com/office/drawing/2014/main" id="{8090AA5E-381B-4893-8B52-5E6E054C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7910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IF folds across zero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214C4A-0F5C-4428-9886-976BFB22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29275"/>
            <a:ext cx="10915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E172CB-43D1-4353-8E6B-E5991AA3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29275"/>
            <a:ext cx="381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A4F4"/>
          </a:solidFill>
          <a:ln xmlns:a="http://schemas.openxmlformats.org/drawingml/2006/main" w="0">
            <a:solidFill>
              <a:srgbClr val="4DA4F4"/>
            </a:solidFill>
            <a:prstDash val="solid"/>
          </a:ln>
        </p:spPr>
      </p:sp>
      <p:sp>
        <p:nvSpPr>
          <p:cNvPr id="25" name="text *A spectrally inverted alias can st">
            <a:extLst xmlns:a="http://schemas.openxmlformats.org/drawingml/2006/main">
              <a:ext uri="{FF2B5EF4-FFF2-40B4-BE49-F238E27FC236}">
                <a16:creationId xmlns:a16="http://schemas.microsoft.com/office/drawing/2014/main" id="{E44B38A8-0072-4FE0-A2D4-8E3F2A94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0547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*A spectrally inverted alias can still be handled digitally if the receiver models the inversion.</a:t>
            </a:r>
          </a:p>
        </p:txBody>
      </p:sp>
    </p:spTree>
    <p:extLst>
      <p:ext uri="{BB962C8B-B14F-4D97-AF65-F5344CB8AC3E}">
        <p14:creationId xmlns:p14="http://schemas.microsoft.com/office/powerpoint/2010/main" val="8691035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5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 LESSON 07  ·  ADC">
            <a:extLst xmlns:a="http://schemas.openxmlformats.org/drawingml/2006/main">
              <a:ext uri="{FF2B5EF4-FFF2-40B4-BE49-F238E27FC236}">
                <a16:creationId xmlns:a16="http://schemas.microsoft.com/office/drawing/2014/main" id="{1012B4B7-758B-4D12-BA5B-13FCA5EE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2B541"/>
                </a:solidFill>
                <a:latin typeface="Segoe UI"/>
                <a:ea typeface="Segoe UI"/>
                <a:cs typeface="Segoe UI"/>
              </a:rPr>
              <a:t>LESSON 07  ·  ADC</a:t>
            </a:r>
          </a:p>
        </p:txBody>
      </p:sp>
      <p:sp>
        <p:nvSpPr>
          <p:cNvPr id="2" name="text The ADC discretizes time and amplit">
            <a:extLst xmlns:a="http://schemas.openxmlformats.org/drawingml/2006/main">
              <a:ext uri="{FF2B5EF4-FFF2-40B4-BE49-F238E27FC236}">
                <a16:creationId xmlns:a16="http://schemas.microsoft.com/office/drawing/2014/main" id="{536D8316-64B7-400F-BB9E-189B8473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7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The ADC discretizes time and amplitude</a:t>
            </a:r>
          </a:p>
        </p:txBody>
      </p:sp>
      <p:sp>
        <p:nvSpPr>
          <p:cNvPr id="3" name="text Quantization is an explicit trade-o">
            <a:extLst xmlns:a="http://schemas.openxmlformats.org/drawingml/2006/main">
              <a:ext uri="{FF2B5EF4-FFF2-40B4-BE49-F238E27FC236}">
                <a16:creationId xmlns:a16="http://schemas.microsoft.com/office/drawing/2014/main" id="{56D639F2-E757-4EA1-B534-78092986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Quantization is an explicit trade-off between sample precision and data rate.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D6D9F-AC40-47C8-8256-1DE28B11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6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5" name="text GNSS FRONT END  |  NCGSA VIRTUAL GN">
            <a:extLst xmlns:a="http://schemas.openxmlformats.org/drawingml/2006/main">
              <a:ext uri="{FF2B5EF4-FFF2-40B4-BE49-F238E27FC236}">
                <a16:creationId xmlns:a16="http://schemas.microsoft.com/office/drawing/2014/main" id="{126703B6-426F-4A81-8F9F-1E1AF3C5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81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GNSS FRONT END  |  NCGSA VIRTUAL GNSS LABORATORY</a:t>
            </a:r>
          </a:p>
        </p:txBody>
      </p:sp>
      <p:sp>
        <p:nvSpPr>
          <p:cNvPr id="6" name="text 19">
            <a:extLst xmlns:a="http://schemas.openxmlformats.org/drawingml/2006/main">
              <a:ext uri="{FF2B5EF4-FFF2-40B4-BE49-F238E27FC236}">
                <a16:creationId xmlns:a16="http://schemas.microsoft.com/office/drawing/2014/main" id="{B9ABD8AE-A304-4257-B480-9158EC26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5B3EC-1AD1-4D75-81D6-9FFE08C9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47900"/>
            <a:ext cx="2552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8" name="text 1 bit">
            <a:extLst xmlns:a="http://schemas.openxmlformats.org/drawingml/2006/main">
              <a:ext uri="{FF2B5EF4-FFF2-40B4-BE49-F238E27FC236}">
                <a16:creationId xmlns:a16="http://schemas.microsoft.com/office/drawing/2014/main" id="{57E671EE-4549-422C-99F5-262E6BF8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514600"/>
            <a:ext cx="2066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5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5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5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5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5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5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5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5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5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550A1"/>
                </a:solidFill>
                <a:latin typeface="Segoe UI"/>
                <a:ea typeface="Segoe UI"/>
                <a:cs typeface="Segoe UI"/>
              </a:rPr>
              <a:t>1 bit</a:t>
            </a:r>
          </a:p>
        </p:txBody>
      </p:sp>
      <p:sp>
        <p:nvSpPr>
          <p:cNvPr id="9" name="text 2 levels">
            <a:extLst xmlns:a="http://schemas.openxmlformats.org/drawingml/2006/main">
              <a:ext uri="{FF2B5EF4-FFF2-40B4-BE49-F238E27FC236}">
                <a16:creationId xmlns:a16="http://schemas.microsoft.com/office/drawing/2014/main" id="{A7D83817-99EC-4052-BB03-DFE70D1B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289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2 levels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7DDA8-EA52-4683-B638-4E7FD405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247900"/>
            <a:ext cx="2552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1" name="text 2 bits">
            <a:extLst xmlns:a="http://schemas.openxmlformats.org/drawingml/2006/main">
              <a:ext uri="{FF2B5EF4-FFF2-40B4-BE49-F238E27FC236}">
                <a16:creationId xmlns:a16="http://schemas.microsoft.com/office/drawing/2014/main" id="{3436FD3F-18DC-4666-A4C1-0C367E93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14600"/>
            <a:ext cx="2066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5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5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5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5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5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5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5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5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5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2B541"/>
                </a:solidFill>
                <a:latin typeface="Segoe UI"/>
                <a:ea typeface="Segoe UI"/>
                <a:cs typeface="Segoe UI"/>
              </a:rPr>
              <a:t>2 bits</a:t>
            </a:r>
          </a:p>
        </p:txBody>
      </p:sp>
      <p:sp>
        <p:nvSpPr>
          <p:cNvPr id="12" name="text 4 levels">
            <a:extLst xmlns:a="http://schemas.openxmlformats.org/drawingml/2006/main">
              <a:ext uri="{FF2B5EF4-FFF2-40B4-BE49-F238E27FC236}">
                <a16:creationId xmlns:a16="http://schemas.microsoft.com/office/drawing/2014/main" id="{1E3752B3-4993-41E3-A589-39A10D3A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289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4 levels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A5BB6-0913-4FA6-964A-8BB9675C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47900"/>
            <a:ext cx="2552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4" name="text 4 bits">
            <a:extLst xmlns:a="http://schemas.openxmlformats.org/drawingml/2006/main">
              <a:ext uri="{FF2B5EF4-FFF2-40B4-BE49-F238E27FC236}">
                <a16:creationId xmlns:a16="http://schemas.microsoft.com/office/drawing/2014/main" id="{D6BE03A4-3740-45B9-9445-9E9BB701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514600"/>
            <a:ext cx="2066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5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5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5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5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5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5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5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5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5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26B8D4"/>
                </a:solidFill>
                <a:latin typeface="Segoe UI"/>
                <a:ea typeface="Segoe UI"/>
                <a:cs typeface="Segoe UI"/>
              </a:rPr>
              <a:t>4 bits</a:t>
            </a:r>
          </a:p>
        </p:txBody>
      </p:sp>
      <p:sp>
        <p:nvSpPr>
          <p:cNvPr id="15" name="text 16 levels">
            <a:extLst xmlns:a="http://schemas.openxmlformats.org/drawingml/2006/main">
              <a:ext uri="{FF2B5EF4-FFF2-40B4-BE49-F238E27FC236}">
                <a16:creationId xmlns:a16="http://schemas.microsoft.com/office/drawing/2014/main" id="{D56FE40A-A534-4A12-A7AE-C914AC09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2289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16 levels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24CF5-E50E-4411-9CEA-28E41914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47900"/>
            <a:ext cx="2552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7" name="text 8 bits">
            <a:extLst xmlns:a="http://schemas.openxmlformats.org/drawingml/2006/main">
              <a:ext uri="{FF2B5EF4-FFF2-40B4-BE49-F238E27FC236}">
                <a16:creationId xmlns:a16="http://schemas.microsoft.com/office/drawing/2014/main" id="{23BAD11C-55D9-422F-8670-F7FEB706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514600"/>
            <a:ext cx="2066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5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5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5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5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5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5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5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5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5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24C29A"/>
                </a:solidFill>
                <a:latin typeface="Segoe UI"/>
                <a:ea typeface="Segoe UI"/>
                <a:cs typeface="Segoe UI"/>
              </a:rPr>
              <a:t>8 bits</a:t>
            </a:r>
          </a:p>
        </p:txBody>
      </p:sp>
      <p:sp>
        <p:nvSpPr>
          <p:cNvPr id="18" name="text 256 levels">
            <a:extLst xmlns:a="http://schemas.openxmlformats.org/drawingml/2006/main">
              <a:ext uri="{FF2B5EF4-FFF2-40B4-BE49-F238E27FC236}">
                <a16:creationId xmlns:a16="http://schemas.microsoft.com/office/drawing/2014/main" id="{0B7F7721-3C85-471D-AFB8-C380538E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289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256 levels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9D5E3A-9933-452D-8C8A-B7B43000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10429875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20" name="text L = 2ᵇ amplitude levels      Δ = Vs">
            <a:extLst xmlns:a="http://schemas.openxmlformats.org/drawingml/2006/main">
              <a:ext uri="{FF2B5EF4-FFF2-40B4-BE49-F238E27FC236}">
                <a16:creationId xmlns:a16="http://schemas.microsoft.com/office/drawing/2014/main" id="{34358361-C19E-4789-AEA1-A05956F2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9953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L = 2ᵇ amplitude levels      Δ = Vspan / 2ᵇ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91D1D7-3D1D-4C6D-8266-09005942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43550"/>
            <a:ext cx="10915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8407D5-40A6-4382-A0D5-E11C1C6D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43550"/>
            <a:ext cx="381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23" name="text For a normalized −1 to +1 V range: ">
            <a:extLst xmlns:a="http://schemas.openxmlformats.org/drawingml/2006/main">
              <a:ext uri="{FF2B5EF4-FFF2-40B4-BE49-F238E27FC236}">
                <a16:creationId xmlns:a16="http://schemas.microsoft.com/office/drawing/2014/main" id="{0B134C3C-7B4D-4254-A71B-752CDDFD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1975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For a normalized −1 to +1 V range: 4 bits → 16 levels → 0.125 V step.</a:t>
            </a:r>
          </a:p>
        </p:txBody>
      </p:sp>
    </p:spTree>
    <p:extLst>
      <p:ext uri="{BB962C8B-B14F-4D97-AF65-F5344CB8AC3E}">
        <p14:creationId xmlns:p14="http://schemas.microsoft.com/office/powerpoint/2010/main" val="10776979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5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 LESSON 07  ·  GAIN CONTROL">
            <a:extLst xmlns:a="http://schemas.openxmlformats.org/drawingml/2006/main">
              <a:ext uri="{FF2B5EF4-FFF2-40B4-BE49-F238E27FC236}">
                <a16:creationId xmlns:a16="http://schemas.microsoft.com/office/drawing/2014/main" id="{998EFE69-85B3-4D82-AB9F-66C9D1F5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2B541"/>
                </a:solidFill>
                <a:latin typeface="Segoe UI"/>
                <a:ea typeface="Segoe UI"/>
                <a:cs typeface="Segoe UI"/>
              </a:rPr>
              <a:t>LESSON 07  ·  GAIN CONTROL</a:t>
            </a:r>
          </a:p>
        </p:txBody>
      </p:sp>
      <p:sp>
        <p:nvSpPr>
          <p:cNvPr id="2" name="text Set gain high enough to use ADC cod">
            <a:extLst xmlns:a="http://schemas.openxmlformats.org/drawingml/2006/main">
              <a:ext uri="{FF2B5EF4-FFF2-40B4-BE49-F238E27FC236}">
                <a16:creationId xmlns:a16="http://schemas.microsoft.com/office/drawing/2014/main" id="{85A899DD-1A17-42A6-A86D-8CD00A95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7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Set gain high enough to use ADC codes — not to clip</a:t>
            </a:r>
          </a:p>
        </p:txBody>
      </p:sp>
      <p:sp>
        <p:nvSpPr>
          <p:cNvPr id="3" name="text Automatic gain control keeps noise ">
            <a:extLst xmlns:a="http://schemas.openxmlformats.org/drawingml/2006/main">
              <a:ext uri="{FF2B5EF4-FFF2-40B4-BE49-F238E27FC236}">
                <a16:creationId xmlns:a16="http://schemas.microsoft.com/office/drawing/2014/main" id="{36A1D99B-C44D-483C-B0F1-F2E0895F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Automatic gain control keeps noise and interference inside converter range.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33945-BC03-46F3-90A8-48D1A00E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6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5" name="text GNSS FRONT END  |  NCGSA VIRTUAL GN">
            <a:extLst xmlns:a="http://schemas.openxmlformats.org/drawingml/2006/main">
              <a:ext uri="{FF2B5EF4-FFF2-40B4-BE49-F238E27FC236}">
                <a16:creationId xmlns:a16="http://schemas.microsoft.com/office/drawing/2014/main" id="{4693DADD-A712-4E63-880A-4ACF6EC0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81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GNSS FRONT END  |  NCGSA VIRTUAL GNSS LABORATORY</a:t>
            </a:r>
          </a:p>
        </p:txBody>
      </p:sp>
      <p:sp>
        <p:nvSpPr>
          <p:cNvPr id="6" name="text 20">
            <a:extLst xmlns:a="http://schemas.openxmlformats.org/drawingml/2006/main">
              <a:ext uri="{FF2B5EF4-FFF2-40B4-BE49-F238E27FC236}">
                <a16:creationId xmlns:a16="http://schemas.microsoft.com/office/drawing/2014/main" id="{09441B4E-F427-4663-AC35-E8385E7B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7EAA0-596F-479B-AB53-A422812A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3209925" cy="2600325"/>
          </a:xfrm>
          <a:prstGeom xmlns:a="http://schemas.openxmlformats.org/drawingml/2006/main" prst="roundRect">
            <a:avLst>
              <a:gd name="adj" fmla="val 3663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3B4D6-C4D5-48F2-8689-6E148193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47625" cy="26003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A4F4"/>
          </a:solidFill>
          <a:ln xmlns:a="http://schemas.openxmlformats.org/drawingml/2006/main" w="0">
            <a:solidFill>
              <a:srgbClr val="4DA4F4"/>
            </a:solidFill>
            <a:prstDash val="solid"/>
          </a:ln>
        </p:spPr>
      </p:sp>
      <p:sp>
        <p:nvSpPr>
          <p:cNvPr id="9" name="text Too little gain">
            <a:extLst xmlns:a="http://schemas.openxmlformats.org/drawingml/2006/main">
              <a:ext uri="{FF2B5EF4-FFF2-40B4-BE49-F238E27FC236}">
                <a16:creationId xmlns:a16="http://schemas.microsoft.com/office/drawing/2014/main" id="{95B07505-00C4-415C-AFA8-E6ED1548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907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DA4F4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4DA4F4"/>
                </a:solidFill>
                <a:latin typeface="Segoe UI"/>
                <a:ea typeface="Segoe UI"/>
                <a:cs typeface="Segoe UI"/>
              </a:rPr>
              <a:t>Too little gain</a:t>
            </a:r>
          </a:p>
        </p:txBody>
      </p:sp>
      <p:sp>
        <p:nvSpPr>
          <p:cNvPr id="10" name="text Samples crowd around the central co">
            <a:extLst xmlns:a="http://schemas.openxmlformats.org/drawingml/2006/main">
              <a:ext uri="{FF2B5EF4-FFF2-40B4-BE49-F238E27FC236}">
                <a16:creationId xmlns:a16="http://schemas.microsoft.com/office/drawing/2014/main" id="{91D127DC-31FC-44E9-8F77-2B4E29D9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28925"/>
            <a:ext cx="28003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Samples crowd around the central codes; dynamic range is poorly used.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1332F-337D-49CE-96B1-49C8CBD4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219325"/>
            <a:ext cx="3209925" cy="2600325"/>
          </a:xfrm>
          <a:prstGeom xmlns:a="http://schemas.openxmlformats.org/drawingml/2006/main" prst="roundRect">
            <a:avLst>
              <a:gd name="adj" fmla="val 3663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F544B4-A20C-4604-9094-B8975D9C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219325"/>
            <a:ext cx="47625" cy="26003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13" name="text Useful gain">
            <a:extLst xmlns:a="http://schemas.openxmlformats.org/drawingml/2006/main">
              <a:ext uri="{FF2B5EF4-FFF2-40B4-BE49-F238E27FC236}">
                <a16:creationId xmlns:a16="http://schemas.microsoft.com/office/drawing/2014/main" id="{6509B684-53EF-47D0-BB27-936C5CAC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907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24C29A"/>
                </a:solidFill>
                <a:latin typeface="Segoe UI"/>
                <a:ea typeface="Segoe UI"/>
                <a:cs typeface="Segoe UI"/>
              </a:rPr>
              <a:t>Useful gain</a:t>
            </a:r>
          </a:p>
        </p:txBody>
      </p:sp>
      <p:sp>
        <p:nvSpPr>
          <p:cNvPr id="14" name="text The histogram spans a healthy porti">
            <a:extLst xmlns:a="http://schemas.openxmlformats.org/drawingml/2006/main">
              <a:ext uri="{FF2B5EF4-FFF2-40B4-BE49-F238E27FC236}">
                <a16:creationId xmlns:a16="http://schemas.microsoft.com/office/drawing/2014/main" id="{D6BB6050-7E9D-41C3-A41B-746CD2D5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28925"/>
            <a:ext cx="28003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The histogram spans a healthy portion of available levels.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373A74-FBA0-43B8-879A-CBD64CC4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19325"/>
            <a:ext cx="3209925" cy="2600325"/>
          </a:xfrm>
          <a:prstGeom xmlns:a="http://schemas.openxmlformats.org/drawingml/2006/main" prst="roundRect">
            <a:avLst>
              <a:gd name="adj" fmla="val 3663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CE675-9860-49A6-9CE8-6244AFEA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19325"/>
            <a:ext cx="47625" cy="26003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50A1"/>
          </a:solidFill>
          <a:ln xmlns:a="http://schemas.openxmlformats.org/drawingml/2006/main" w="0">
            <a:solidFill>
              <a:srgbClr val="E550A1"/>
            </a:solidFill>
            <a:prstDash val="solid"/>
          </a:ln>
        </p:spPr>
      </p:sp>
      <p:sp>
        <p:nvSpPr>
          <p:cNvPr id="17" name="text Excessive gain">
            <a:extLst xmlns:a="http://schemas.openxmlformats.org/drawingml/2006/main">
              <a:ext uri="{FF2B5EF4-FFF2-40B4-BE49-F238E27FC236}">
                <a16:creationId xmlns:a16="http://schemas.microsoft.com/office/drawing/2014/main" id="{CD6D3167-F3DC-40BE-A922-F30056A0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907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E550A1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E550A1"/>
                </a:solidFill>
                <a:latin typeface="Segoe UI"/>
                <a:ea typeface="Segoe UI"/>
                <a:cs typeface="Segoe UI"/>
              </a:rPr>
              <a:t>Excessive gain</a:t>
            </a:r>
          </a:p>
        </p:txBody>
      </p:sp>
      <p:sp>
        <p:nvSpPr>
          <p:cNvPr id="18" name="text Input excursions hit the upper and ">
            <a:extLst xmlns:a="http://schemas.openxmlformats.org/drawingml/2006/main">
              <a:ext uri="{FF2B5EF4-FFF2-40B4-BE49-F238E27FC236}">
                <a16:creationId xmlns:a16="http://schemas.microsoft.com/office/drawing/2014/main" id="{AC031A18-E024-475E-B15C-97B78BD6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28925"/>
            <a:ext cx="28003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Input excursions hit the upper and lower rails; clipping distorts spectrum.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1F6AF-670A-493F-AFC6-8A6C1AFA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81625"/>
            <a:ext cx="10915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CF67DC-0926-4F10-B0B0-C5F95D96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81625"/>
            <a:ext cx="381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21" name="text Dashboard: change bits (1 / 2 / 4 /">
            <a:extLst xmlns:a="http://schemas.openxmlformats.org/drawingml/2006/main">
              <a:ext uri="{FF2B5EF4-FFF2-40B4-BE49-F238E27FC236}">
                <a16:creationId xmlns:a16="http://schemas.microsoft.com/office/drawing/2014/main" id="{3689D7C5-0664-465E-BDB6-DCAEA4F5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5782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Dashboard: change bits (1 / 2 / 4 / 8) and RMS/full-scale; watch clipping and level occupancy.</a:t>
            </a:r>
          </a:p>
        </p:txBody>
      </p:sp>
    </p:spTree>
    <p:extLst>
      <p:ext uri="{BB962C8B-B14F-4D97-AF65-F5344CB8AC3E}">
        <p14:creationId xmlns:p14="http://schemas.microsoft.com/office/powerpoint/2010/main" val="91786330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5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text LESSON 08  ·  SAMPLE INSPECTION">
            <a:extLst xmlns:a="http://schemas.openxmlformats.org/drawingml/2006/main">
              <a:ext uri="{FF2B5EF4-FFF2-40B4-BE49-F238E27FC236}">
                <a16:creationId xmlns:a16="http://schemas.microsoft.com/office/drawing/2014/main" id="{3C5F066D-4427-4B45-B527-B64DC519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4C29A"/>
                </a:solidFill>
                <a:latin typeface="Segoe UI"/>
                <a:ea typeface="Segoe UI"/>
                <a:cs typeface="Segoe UI"/>
              </a:rPr>
              <a:t>LESSON 08  ·  SAMPLE INSPECTION</a:t>
            </a:r>
          </a:p>
        </p:txBody>
      </p:sp>
      <p:sp>
        <p:nvSpPr>
          <p:cNvPr id="2" name="text Three plots reveal different faults">
            <a:extLst xmlns:a="http://schemas.openxmlformats.org/drawingml/2006/main">
              <a:ext uri="{FF2B5EF4-FFF2-40B4-BE49-F238E27FC236}">
                <a16:creationId xmlns:a16="http://schemas.microsoft.com/office/drawing/2014/main" id="{77CABEFA-9669-4650-B205-A0153D30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7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Three plots reveal different faults</a:t>
            </a:r>
          </a:p>
        </p:txBody>
      </p:sp>
      <p:sp>
        <p:nvSpPr>
          <p:cNvPr id="3" name="text No single plot can verify that a pa">
            <a:extLst xmlns:a="http://schemas.openxmlformats.org/drawingml/2006/main">
              <a:ext uri="{FF2B5EF4-FFF2-40B4-BE49-F238E27FC236}">
                <a16:creationId xmlns:a16="http://schemas.microsoft.com/office/drawing/2014/main" id="{9B01C1A0-25A1-48A5-9C45-138E59F0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No single plot can verify that a particular GNSS satellite has been acquired.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34FED-36E3-40D5-AD06-98F9A9AE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6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5" name="text GNSS FRONT END  |  NCGSA VIRTUAL GN">
            <a:extLst xmlns:a="http://schemas.openxmlformats.org/drawingml/2006/main">
              <a:ext uri="{FF2B5EF4-FFF2-40B4-BE49-F238E27FC236}">
                <a16:creationId xmlns:a16="http://schemas.microsoft.com/office/drawing/2014/main" id="{D00A8A6B-864B-4C25-B2D8-86030475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81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GNSS FRONT END  |  NCGSA VIRTUAL GNSS LABORATORY</a:t>
            </a:r>
          </a:p>
        </p:txBody>
      </p:sp>
      <p:sp>
        <p:nvSpPr>
          <p:cNvPr id="6" name="text 21">
            <a:extLst xmlns:a="http://schemas.openxmlformats.org/drawingml/2006/main">
              <a:ext uri="{FF2B5EF4-FFF2-40B4-BE49-F238E27FC236}">
                <a16:creationId xmlns:a16="http://schemas.microsoft.com/office/drawing/2014/main" id="{BD5A478E-4D3D-4D3D-891B-A78BC3AB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38E71-44BF-4D90-BBDF-41BFF4B9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90750"/>
            <a:ext cx="33718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605F1-B91E-45FB-ACF4-12198295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90750"/>
            <a:ext cx="47625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8D4"/>
          </a:solidFill>
          <a:ln xmlns:a="http://schemas.openxmlformats.org/drawingml/2006/main" w="0">
            <a:solidFill>
              <a:srgbClr val="26B8D4"/>
            </a:solidFill>
            <a:prstDash val="solid"/>
          </a:ln>
        </p:spPr>
      </p:sp>
      <p:sp>
        <p:nvSpPr>
          <p:cNvPr id="9" name="text TIME WAVEFORM">
            <a:extLst xmlns:a="http://schemas.openxmlformats.org/drawingml/2006/main">
              <a:ext uri="{FF2B5EF4-FFF2-40B4-BE49-F238E27FC236}">
                <a16:creationId xmlns:a16="http://schemas.microsoft.com/office/drawing/2014/main" id="{330AFC70-E4A2-4C59-AC46-D4A864D0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90775"/>
            <a:ext cx="2990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26B8D4"/>
                </a:solidFill>
                <a:latin typeface="Segoe UI"/>
                <a:ea typeface="Segoe UI"/>
                <a:cs typeface="Segoe UI"/>
              </a:rPr>
              <a:t>TIME WAVEFORM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99F047-CD12-4A22-8C43-F869CC0C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76550"/>
            <a:ext cx="2962275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2FDE30-D15A-4064-A3F9-62984A12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5762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2A2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D1200-F6A3-4E00-A469-6FC50672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657475" cy="819150"/>
          </a:xfrm>
          <a:custGeom xmlns:a="http://schemas.openxmlformats.org/drawingml/2006/main">
            <a:pathLst>
              <a:path w="2657475" h="819150">
                <a:moveTo>
                  <a:pt x="0" y="353217"/>
                </a:moveTo>
                <a:lnTo>
                  <a:pt x="26575" y="614325"/>
                </a:lnTo>
                <a:lnTo>
                  <a:pt x="53150" y="119158"/>
                </a:lnTo>
                <a:lnTo>
                  <a:pt x="79724" y="687733"/>
                </a:lnTo>
                <a:lnTo>
                  <a:pt x="106299" y="236743"/>
                </a:lnTo>
                <a:lnTo>
                  <a:pt x="132874" y="426374"/>
                </a:lnTo>
                <a:lnTo>
                  <a:pt x="159448" y="537989"/>
                </a:lnTo>
                <a:lnTo>
                  <a:pt x="186023" y="201429"/>
                </a:lnTo>
                <a:lnTo>
                  <a:pt x="212598" y="606597"/>
                </a:lnTo>
                <a:lnTo>
                  <a:pt x="239173" y="301301"/>
                </a:lnTo>
                <a:lnTo>
                  <a:pt x="265748" y="395935"/>
                </a:lnTo>
                <a:lnTo>
                  <a:pt x="292322" y="522934"/>
                </a:lnTo>
                <a:lnTo>
                  <a:pt x="318897" y="260940"/>
                </a:lnTo>
                <a:lnTo>
                  <a:pt x="345472" y="517066"/>
                </a:lnTo>
                <a:lnTo>
                  <a:pt x="372047" y="398197"/>
                </a:lnTo>
                <a:lnTo>
                  <a:pt x="398621" y="313231"/>
                </a:lnTo>
                <a:lnTo>
                  <a:pt x="425196" y="580344"/>
                </a:lnTo>
                <a:lnTo>
                  <a:pt x="451771" y="224438"/>
                </a:lnTo>
                <a:lnTo>
                  <a:pt x="478346" y="550659"/>
                </a:lnTo>
                <a:lnTo>
                  <a:pt x="504920" y="344211"/>
                </a:lnTo>
                <a:lnTo>
                  <a:pt x="531495" y="404920"/>
                </a:lnTo>
                <a:lnTo>
                  <a:pt x="558070" y="448954"/>
                </a:lnTo>
                <a:lnTo>
                  <a:pt x="584645" y="379167"/>
                </a:lnTo>
                <a:lnTo>
                  <a:pt x="611219" y="402440"/>
                </a:lnTo>
                <a:lnTo>
                  <a:pt x="637794" y="453566"/>
                </a:lnTo>
                <a:lnTo>
                  <a:pt x="664369" y="356740"/>
                </a:lnTo>
                <a:lnTo>
                  <a:pt x="690944" y="432445"/>
                </a:lnTo>
                <a:lnTo>
                  <a:pt x="717518" y="443933"/>
                </a:lnTo>
                <a:lnTo>
                  <a:pt x="744093" y="318771"/>
                </a:lnTo>
                <a:lnTo>
                  <a:pt x="770668" y="526113"/>
                </a:lnTo>
                <a:lnTo>
                  <a:pt x="797243" y="313732"/>
                </a:lnTo>
                <a:lnTo>
                  <a:pt x="823817" y="446198"/>
                </a:lnTo>
                <a:lnTo>
                  <a:pt x="850392" y="441485"/>
                </a:lnTo>
                <a:lnTo>
                  <a:pt x="876967" y="336931"/>
                </a:lnTo>
                <a:lnTo>
                  <a:pt x="903542" y="468517"/>
                </a:lnTo>
                <a:lnTo>
                  <a:pt x="930116" y="420430"/>
                </a:lnTo>
                <a:lnTo>
                  <a:pt x="956691" y="299424"/>
                </a:lnTo>
                <a:lnTo>
                  <a:pt x="983266" y="603914"/>
                </a:lnTo>
                <a:lnTo>
                  <a:pt x="1009841" y="189092"/>
                </a:lnTo>
                <a:lnTo>
                  <a:pt x="1036415" y="577235"/>
                </a:lnTo>
                <a:lnTo>
                  <a:pt x="1062990" y="361104"/>
                </a:lnTo>
                <a:lnTo>
                  <a:pt x="1089565" y="315428"/>
                </a:lnTo>
                <a:lnTo>
                  <a:pt x="1116140" y="613675"/>
                </a:lnTo>
                <a:lnTo>
                  <a:pt x="1142714" y="173398"/>
                </a:lnTo>
                <a:lnTo>
                  <a:pt x="1169289" y="585981"/>
                </a:lnTo>
                <a:lnTo>
                  <a:pt x="1195864" y="360122"/>
                </a:lnTo>
                <a:lnTo>
                  <a:pt x="1222439" y="318909"/>
                </a:lnTo>
                <a:lnTo>
                  <a:pt x="1249013" y="592565"/>
                </a:lnTo>
                <a:lnTo>
                  <a:pt x="1275588" y="223958"/>
                </a:lnTo>
                <a:lnTo>
                  <a:pt x="1302163" y="503607"/>
                </a:lnTo>
                <a:lnTo>
                  <a:pt x="1328738" y="465933"/>
                </a:lnTo>
                <a:lnTo>
                  <a:pt x="1355312" y="204825"/>
                </a:lnTo>
                <a:lnTo>
                  <a:pt x="1381887" y="699992"/>
                </a:lnTo>
                <a:lnTo>
                  <a:pt x="1408462" y="131417"/>
                </a:lnTo>
                <a:lnTo>
                  <a:pt x="1435037" y="582407"/>
                </a:lnTo>
                <a:lnTo>
                  <a:pt x="1461611" y="392776"/>
                </a:lnTo>
                <a:lnTo>
                  <a:pt x="1488186" y="281161"/>
                </a:lnTo>
                <a:lnTo>
                  <a:pt x="1514761" y="617721"/>
                </a:lnTo>
                <a:lnTo>
                  <a:pt x="1541336" y="212553"/>
                </a:lnTo>
                <a:lnTo>
                  <a:pt x="1567910" y="517849"/>
                </a:lnTo>
                <a:lnTo>
                  <a:pt x="1594485" y="423215"/>
                </a:lnTo>
                <a:lnTo>
                  <a:pt x="1621060" y="296216"/>
                </a:lnTo>
                <a:lnTo>
                  <a:pt x="1647635" y="558210"/>
                </a:lnTo>
                <a:lnTo>
                  <a:pt x="1674209" y="302084"/>
                </a:lnTo>
                <a:lnTo>
                  <a:pt x="1700784" y="420953"/>
                </a:lnTo>
                <a:lnTo>
                  <a:pt x="1727359" y="505919"/>
                </a:lnTo>
                <a:lnTo>
                  <a:pt x="1753934" y="238806"/>
                </a:lnTo>
                <a:lnTo>
                  <a:pt x="1780508" y="594712"/>
                </a:lnTo>
                <a:lnTo>
                  <a:pt x="1807083" y="268491"/>
                </a:lnTo>
                <a:lnTo>
                  <a:pt x="1833658" y="474939"/>
                </a:lnTo>
                <a:lnTo>
                  <a:pt x="1860232" y="414230"/>
                </a:lnTo>
                <a:lnTo>
                  <a:pt x="1886807" y="370196"/>
                </a:lnTo>
                <a:lnTo>
                  <a:pt x="1913382" y="439983"/>
                </a:lnTo>
                <a:lnTo>
                  <a:pt x="1939957" y="416710"/>
                </a:lnTo>
                <a:lnTo>
                  <a:pt x="1966532" y="365584"/>
                </a:lnTo>
                <a:lnTo>
                  <a:pt x="1993106" y="462410"/>
                </a:lnTo>
                <a:lnTo>
                  <a:pt x="2019681" y="386705"/>
                </a:lnTo>
                <a:lnTo>
                  <a:pt x="2046256" y="375217"/>
                </a:lnTo>
                <a:lnTo>
                  <a:pt x="2072831" y="500379"/>
                </a:lnTo>
                <a:lnTo>
                  <a:pt x="2099405" y="293037"/>
                </a:lnTo>
                <a:lnTo>
                  <a:pt x="2125980" y="505418"/>
                </a:lnTo>
                <a:lnTo>
                  <a:pt x="2152555" y="372952"/>
                </a:lnTo>
                <a:lnTo>
                  <a:pt x="2179129" y="377665"/>
                </a:lnTo>
                <a:lnTo>
                  <a:pt x="2205704" y="482219"/>
                </a:lnTo>
                <a:lnTo>
                  <a:pt x="2232279" y="350633"/>
                </a:lnTo>
                <a:lnTo>
                  <a:pt x="2258854" y="398720"/>
                </a:lnTo>
                <a:lnTo>
                  <a:pt x="2285429" y="519726"/>
                </a:lnTo>
                <a:lnTo>
                  <a:pt x="2312003" y="215236"/>
                </a:lnTo>
                <a:lnTo>
                  <a:pt x="2338578" y="630058"/>
                </a:lnTo>
                <a:lnTo>
                  <a:pt x="2365153" y="241915"/>
                </a:lnTo>
                <a:lnTo>
                  <a:pt x="2391728" y="458046"/>
                </a:lnTo>
                <a:lnTo>
                  <a:pt x="2418302" y="503722"/>
                </a:lnTo>
                <a:lnTo>
                  <a:pt x="2444877" y="205475"/>
                </a:lnTo>
                <a:lnTo>
                  <a:pt x="2471452" y="645752"/>
                </a:lnTo>
                <a:lnTo>
                  <a:pt x="2498027" y="233169"/>
                </a:lnTo>
                <a:lnTo>
                  <a:pt x="2524601" y="459028"/>
                </a:lnTo>
                <a:lnTo>
                  <a:pt x="2551176" y="500241"/>
                </a:lnTo>
                <a:lnTo>
                  <a:pt x="2577751" y="226585"/>
                </a:lnTo>
                <a:lnTo>
                  <a:pt x="2604326" y="595192"/>
                </a:lnTo>
                <a:lnTo>
                  <a:pt x="2630900" y="315543"/>
                </a:lnTo>
                <a:lnTo>
                  <a:pt x="2657475" y="353217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6B8D4"/>
            </a:solidFill>
            <a:prstDash val="solid"/>
          </a:ln>
        </p:spPr>
      </p:sp>
      <p:sp>
        <p:nvSpPr>
          <p:cNvPr id="13" name="text Clipping and transients">
            <a:extLst xmlns:a="http://schemas.openxmlformats.org/drawingml/2006/main">
              <a:ext uri="{FF2B5EF4-FFF2-40B4-BE49-F238E27FC236}">
                <a16:creationId xmlns:a16="http://schemas.microsoft.com/office/drawing/2014/main" id="{BA47A931-834D-424C-B68A-0A0E440B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14825"/>
            <a:ext cx="29622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Clipping and transients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B957C-F491-4DBD-A56F-EE84F032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33718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91817D-E844-40F7-A1E2-8D31D6CA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47625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16" name="text HISTOGRAM">
            <a:extLst xmlns:a="http://schemas.openxmlformats.org/drawingml/2006/main">
              <a:ext uri="{FF2B5EF4-FFF2-40B4-BE49-F238E27FC236}">
                <a16:creationId xmlns:a16="http://schemas.microsoft.com/office/drawing/2014/main" id="{ED2DF91F-F3C6-431B-B940-42557887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90775"/>
            <a:ext cx="2990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2B541"/>
                </a:solidFill>
                <a:latin typeface="Segoe UI"/>
                <a:ea typeface="Segoe UI"/>
                <a:cs typeface="Segoe UI"/>
              </a:rPr>
              <a:t>HISTOGRAM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AE08D0-D928-4B5D-A128-DBC88B17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76550"/>
            <a:ext cx="2962275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22C0DD-9B1D-4ADF-BFC1-23552D02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5762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2A2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6CFB33-ABD6-46B8-BF84-6AED3816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99871"/>
            <a:ext cx="133350" cy="57754"/>
          </a:xfrm>
          <a:prstGeom xmlns:a="http://schemas.openxmlformats.org/drawingml/2006/main" prst="roundRect">
            <a:avLst>
              <a:gd name="adj" fmla="val 16492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107201-33F1-4BE3-84D3-CA4B773B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6805" y="3780658"/>
            <a:ext cx="133350" cy="76967"/>
          </a:xfrm>
          <a:prstGeom xmlns:a="http://schemas.openxmlformats.org/drawingml/2006/main" prst="roundRect">
            <a:avLst>
              <a:gd name="adj" fmla="val 12375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BD70A1-8071-42FC-9198-DDF02C6B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3686914"/>
            <a:ext cx="133350" cy="170711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2DE3C3-D3AE-4506-B668-89712B7C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515" y="3497640"/>
            <a:ext cx="133350" cy="359985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4AC25C-B246-4345-A4C2-C121F34A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870" y="3539369"/>
            <a:ext cx="133350" cy="318256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B16A3B-23C6-4D4B-8E3F-FF831FC8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200371"/>
            <a:ext cx="133350" cy="657254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BE5F1C-EC50-4919-87C8-FAFA89FB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3580" y="3107621"/>
            <a:ext cx="133350" cy="750004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FFFD4F-6552-4C8A-BBF9-AE2690E0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6935" y="3317287"/>
            <a:ext cx="133350" cy="540338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7E222C-559A-4F70-8601-6EC6B41C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290" y="2998898"/>
            <a:ext cx="133350" cy="858727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E2E137-1949-4867-9683-2F08E921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45" y="3322593"/>
            <a:ext cx="133350" cy="535032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0024B2-6762-4232-91FE-17689358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85782"/>
            <a:ext cx="133350" cy="371843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087C34-6918-4B8C-878F-F21A42FB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0355" y="3483754"/>
            <a:ext cx="133350" cy="373871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F23A1D-905E-47D8-B6C7-74BDCACC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710" y="3719656"/>
            <a:ext cx="133350" cy="137969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FB587E-1583-4F1F-90DB-19018115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7065" y="3761739"/>
            <a:ext cx="133350" cy="95886"/>
          </a:xfrm>
          <a:prstGeom xmlns:a="http://schemas.openxmlformats.org/drawingml/2006/main" prst="roundRect">
            <a:avLst>
              <a:gd name="adj" fmla="val 9934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D34424-C9FC-4E3D-B8E2-4FE3CB18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420" y="3803536"/>
            <a:ext cx="133350" cy="54089"/>
          </a:xfrm>
          <a:prstGeom xmlns:a="http://schemas.openxmlformats.org/drawingml/2006/main" prst="roundRect">
            <a:avLst>
              <a:gd name="adj" fmla="val 17610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34" name="text Code occupancy and symmetry">
            <a:extLst xmlns:a="http://schemas.openxmlformats.org/drawingml/2006/main">
              <a:ext uri="{FF2B5EF4-FFF2-40B4-BE49-F238E27FC236}">
                <a16:creationId xmlns:a16="http://schemas.microsoft.com/office/drawing/2014/main" id="{B092839C-63EF-485F-9298-7AADB2B8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14825"/>
            <a:ext cx="29622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Code occupancy and symmetry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29AA6B-0A93-4CC6-9512-FE77975A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190750"/>
            <a:ext cx="33718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3F616F-6C2C-4433-99C2-BE443407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190750"/>
            <a:ext cx="47625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37" name="text SPECTRUM / PSD">
            <a:extLst xmlns:a="http://schemas.openxmlformats.org/drawingml/2006/main">
              <a:ext uri="{FF2B5EF4-FFF2-40B4-BE49-F238E27FC236}">
                <a16:creationId xmlns:a16="http://schemas.microsoft.com/office/drawing/2014/main" id="{B754F045-83B6-465A-80F4-DEBC4655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90775"/>
            <a:ext cx="2990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24C29A"/>
                </a:solidFill>
                <a:latin typeface="Segoe UI"/>
                <a:ea typeface="Segoe UI"/>
                <a:cs typeface="Segoe UI"/>
              </a:rPr>
              <a:t>SPECTRUM / PSD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9B77A9-E0B7-468B-B52C-FAECE097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876550"/>
            <a:ext cx="2962275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CA5983-F2F2-4635-8AEC-576070D0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85762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2A2B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2F461D-66C7-4FA3-B578-A44D2F8D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743291"/>
            <a:ext cx="36195" cy="11433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65AF7F-931F-40A4-B786-7030D4A9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694" y="3695551"/>
            <a:ext cx="36195" cy="1620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98DA71-6EAF-4ABB-97B2-4B759572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63" y="3745422"/>
            <a:ext cx="36195" cy="11220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5C8090-FB3A-452B-8D8A-29CA20AB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231" y="3788483"/>
            <a:ext cx="36195" cy="6914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881A42-4342-4B42-A2F9-8931A286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31316"/>
            <a:ext cx="36195" cy="12630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66FEC3-432F-4CE8-9ECC-6CEAFA90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7769" y="3680520"/>
            <a:ext cx="36195" cy="17710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E76E2B-5607-426F-A261-EC4DE4CA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3718379"/>
            <a:ext cx="36195" cy="13924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190C97-F157-47AD-86D2-A02DF40B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7306" y="3727549"/>
            <a:ext cx="36195" cy="13007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00BC4E-0FF1-48A4-A4A3-5717BBFF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627108"/>
            <a:ext cx="36195" cy="2305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78A0143-4176-48E6-BA05-4C919044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844" y="3536037"/>
            <a:ext cx="36195" cy="3215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6AEFE9-6346-45F3-B20A-69094AF1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529273"/>
            <a:ext cx="36195" cy="32835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322C200-1F48-42C0-9C61-B2EA1B73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6381" y="3488963"/>
            <a:ext cx="36195" cy="36866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A12B8CB-97AB-4480-ACFE-355846A3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56166"/>
            <a:ext cx="36195" cy="50145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3E5C334-3DF4-4449-BFBA-4C8401E8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5919" y="3262857"/>
            <a:ext cx="36195" cy="59476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6ECF3DA-DEC0-4696-B9CB-8A373F69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3270205"/>
            <a:ext cx="36195" cy="5874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D19BF72-B60E-47BB-8CDD-C939110A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456" y="3250045"/>
            <a:ext cx="36195" cy="6075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613232A-62C1-47BA-9E96-3AE547C9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152667"/>
            <a:ext cx="36195" cy="70495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D03FC45-C4B6-4C3A-854A-FA01B50B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994" y="3109791"/>
            <a:ext cx="36195" cy="74783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1E5E1DE-F8CE-45E1-B962-7CCE34B3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763" y="3161499"/>
            <a:ext cx="36195" cy="69612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067691-AFA6-4941-A4E9-409B4AAD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531" y="3170204"/>
            <a:ext cx="36195" cy="68742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2F7F5C4-06D0-4B8F-951C-2F2FDB9F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99692"/>
            <a:ext cx="36195" cy="75793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893AABE-3215-41DA-9F8C-58DA69A6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4069" y="3085601"/>
            <a:ext cx="36195" cy="77202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5BD77EF-553E-411F-ACD4-FFEE1AD5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8838" y="3152758"/>
            <a:ext cx="36195" cy="70486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8C2144F-BDC1-40F2-97E4-84802F47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3606" y="3161480"/>
            <a:ext cx="36195" cy="69614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0153150-84A8-41A3-ABE7-7116FB45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093508"/>
            <a:ext cx="36195" cy="7641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A0E6FC8-EC31-43A9-862C-290A3100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3144" y="3089061"/>
            <a:ext cx="36195" cy="76856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02B58B9-A864-4304-9440-6FBB5FF5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7913" y="3158739"/>
            <a:ext cx="36195" cy="69888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398104C-9B23-4C95-8165-915268ED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2681" y="3163296"/>
            <a:ext cx="36195" cy="69432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B4C20D4-58E9-4AEB-8557-BFD97C51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02855"/>
            <a:ext cx="36195" cy="7547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FECF90E-9301-42EC-981D-34BE4387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2219" y="3120124"/>
            <a:ext cx="36195" cy="73750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2933E8F-CF9E-4F9D-AB77-2DECDCD6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88" y="3210708"/>
            <a:ext cx="36195" cy="6469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B2665B2-4E85-4279-BDF6-01232A05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756" y="3236323"/>
            <a:ext cx="36195" cy="6213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796483C-9E39-4B16-82DD-CDAA3820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212966"/>
            <a:ext cx="36195" cy="64465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593B2AA-097A-470E-ACBF-AE597E72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294" y="3279922"/>
            <a:ext cx="36195" cy="57770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F50E942-BEDE-41CC-B9FB-98D2D151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3" y="3412409"/>
            <a:ext cx="36195" cy="44521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0D09BA7-4E1D-4FB7-A5ED-EE7317E7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0831" y="2724150"/>
            <a:ext cx="36195" cy="1133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FD7C796-BB0C-4D9C-AA46-33087C21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474219"/>
            <a:ext cx="36195" cy="38340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96B7F0F-0E98-4610-A711-A3872AF9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369" y="3559602"/>
            <a:ext cx="36195" cy="29802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3E11C50-DB27-4291-BFBA-F5AF4236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3680785"/>
            <a:ext cx="36195" cy="1768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EB37449-A2D4-448E-923E-80D65A4C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906" y="3700850"/>
            <a:ext cx="36195" cy="156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05925C5-BA33-474A-83CB-61027246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3666260"/>
            <a:ext cx="36195" cy="19136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4B1EC01-99B7-460D-A0B0-02698015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444" y="3710264"/>
            <a:ext cx="36195" cy="14736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4B703E3-DA60-4A05-8509-2DC9DAC2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4213" y="3781697"/>
            <a:ext cx="36195" cy="7592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A09F91E-BD03-4E99-9982-B263BA8F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981" y="3755797"/>
            <a:ext cx="36195" cy="10182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0F8A588-AEAB-421A-8BAD-7EC5B663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96949"/>
            <a:ext cx="36195" cy="16067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BBF4CAE-6AE4-46DF-880A-99D351E4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8519" y="3731067"/>
            <a:ext cx="36195" cy="12655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3FBD839-E029-4157-ABA0-19F96FB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288" y="3789689"/>
            <a:ext cx="36195" cy="679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08C3B43-ED0A-4DEF-AA48-37680395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056" y="3752698"/>
            <a:ext cx="36195" cy="10492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88" name="text Band location, noise, interferers">
            <a:extLst xmlns:a="http://schemas.openxmlformats.org/drawingml/2006/main">
              <a:ext uri="{FF2B5EF4-FFF2-40B4-BE49-F238E27FC236}">
                <a16:creationId xmlns:a16="http://schemas.microsoft.com/office/drawing/2014/main" id="{6DF3C6D6-7E7C-4011-AA05-D40DA7D0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14825"/>
            <a:ext cx="29622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Band location, noise, interferers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ACE78CB-F165-4EA3-BA13-FD2B03CB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10915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28270E8-CAAE-4A0B-8307-3C6B26FB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381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91" name="text A shaped noise spectrum is not proo">
            <a:extLst xmlns:a="http://schemas.openxmlformats.org/drawingml/2006/main">
              <a:ext uri="{FF2B5EF4-FFF2-40B4-BE49-F238E27FC236}">
                <a16:creationId xmlns:a16="http://schemas.microsoft.com/office/drawing/2014/main" id="{58BF4761-52BC-4327-87CC-3E6A3B8C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6735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A shaped noise spectrum is not proof of code correlation or satellite identity.</a:t>
            </a:r>
          </a:p>
        </p:txBody>
      </p:sp>
    </p:spTree>
    <p:extLst>
      <p:ext uri="{BB962C8B-B14F-4D97-AF65-F5344CB8AC3E}">
        <p14:creationId xmlns:p14="http://schemas.microsoft.com/office/powerpoint/2010/main" val="71107960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5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 LESSON 09  ·  HANDOFF">
            <a:extLst xmlns:a="http://schemas.openxmlformats.org/drawingml/2006/main">
              <a:ext uri="{FF2B5EF4-FFF2-40B4-BE49-F238E27FC236}">
                <a16:creationId xmlns:a16="http://schemas.microsoft.com/office/drawing/2014/main" id="{C5A473BE-0167-4703-9939-EE50C147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6B8D4"/>
                </a:solidFill>
                <a:latin typeface="Segoe UI"/>
                <a:ea typeface="Segoe UI"/>
                <a:cs typeface="Segoe UI"/>
              </a:rPr>
              <a:t>LESSON 09  ·  HANDOFF</a:t>
            </a:r>
          </a:p>
        </p:txBody>
      </p:sp>
      <p:sp>
        <p:nvSpPr>
          <p:cNvPr id="2" name="text Digital samples are meaningful only">
            <a:extLst xmlns:a="http://schemas.openxmlformats.org/drawingml/2006/main">
              <a:ext uri="{FF2B5EF4-FFF2-40B4-BE49-F238E27FC236}">
                <a16:creationId xmlns:a16="http://schemas.microsoft.com/office/drawing/2014/main" id="{D4A3C747-433F-4082-AE7C-08C16329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7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Digital samples are meaningful only with metadata</a:t>
            </a:r>
          </a:p>
        </p:txBody>
      </p:sp>
      <p:sp>
        <p:nvSpPr>
          <p:cNvPr id="3" name="text Acquisition needs the samples, cloc">
            <a:extLst xmlns:a="http://schemas.openxmlformats.org/drawingml/2006/main">
              <a:ext uri="{FF2B5EF4-FFF2-40B4-BE49-F238E27FC236}">
                <a16:creationId xmlns:a16="http://schemas.microsoft.com/office/drawing/2014/main" id="{97966F61-A499-4108-B065-206ABD21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Acquisition needs the samples, clock rate, centre frequency and format.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3E93D-5430-4B6F-A297-837B6D02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6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5" name="text GNSS FRONT END  |  NCGSA VIRTUAL GN">
            <a:extLst xmlns:a="http://schemas.openxmlformats.org/drawingml/2006/main">
              <a:ext uri="{FF2B5EF4-FFF2-40B4-BE49-F238E27FC236}">
                <a16:creationId xmlns:a16="http://schemas.microsoft.com/office/drawing/2014/main" id="{9780FAE9-2317-42CA-9705-16D49FE2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81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GNSS FRONT END  |  NCGSA VIRTUAL GNSS LABORATORY</a:t>
            </a:r>
          </a:p>
        </p:txBody>
      </p:sp>
      <p:sp>
        <p:nvSpPr>
          <p:cNvPr id="6" name="text 22">
            <a:extLst xmlns:a="http://schemas.openxmlformats.org/drawingml/2006/main">
              <a:ext uri="{FF2B5EF4-FFF2-40B4-BE49-F238E27FC236}">
                <a16:creationId xmlns:a16="http://schemas.microsoft.com/office/drawing/2014/main" id="{F263C935-13FE-4A06-BA42-BFE97085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D866D-EF91-43FC-9FCA-85A35232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53054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8" name="text 38.192 MS/s">
            <a:extLst xmlns:a="http://schemas.openxmlformats.org/drawingml/2006/main">
              <a:ext uri="{FF2B5EF4-FFF2-40B4-BE49-F238E27FC236}">
                <a16:creationId xmlns:a16="http://schemas.microsoft.com/office/drawing/2014/main" id="{49CBE1E0-EAFE-4A11-A5A7-54C89405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955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6B8D4"/>
                </a:solidFill>
                <a:latin typeface="Segoe UI"/>
                <a:ea typeface="Segoe UI"/>
                <a:cs typeface="Segoe UI"/>
              </a:rPr>
              <a:t>38.192 MS/s</a:t>
            </a:r>
          </a:p>
        </p:txBody>
      </p:sp>
      <p:sp>
        <p:nvSpPr>
          <p:cNvPr id="9" name="text Sample rate">
            <a:extLst xmlns:a="http://schemas.openxmlformats.org/drawingml/2006/main">
              <a:ext uri="{FF2B5EF4-FFF2-40B4-BE49-F238E27FC236}">
                <a16:creationId xmlns:a16="http://schemas.microsoft.com/office/drawing/2014/main" id="{8BB130A2-130A-420D-9E47-DC8A8174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86050"/>
            <a:ext cx="5095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Sample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D1068-F4AE-4280-BE2A-D4E74FC4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200275"/>
            <a:ext cx="53054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1" name="text 9.548 MHz">
            <a:extLst xmlns:a="http://schemas.openxmlformats.org/drawingml/2006/main">
              <a:ext uri="{FF2B5EF4-FFF2-40B4-BE49-F238E27FC236}">
                <a16:creationId xmlns:a16="http://schemas.microsoft.com/office/drawing/2014/main" id="{E9D47A6D-97B7-492A-9BB2-0B2E5FD5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955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2B541"/>
                </a:solidFill>
                <a:latin typeface="Segoe UI"/>
                <a:ea typeface="Segoe UI"/>
                <a:cs typeface="Segoe UI"/>
              </a:rPr>
              <a:t>9.548 MHz</a:t>
            </a:r>
          </a:p>
        </p:txBody>
      </p:sp>
      <p:sp>
        <p:nvSpPr>
          <p:cNvPr id="12" name="text Digital IF">
            <a:extLst xmlns:a="http://schemas.openxmlformats.org/drawingml/2006/main">
              <a:ext uri="{FF2B5EF4-FFF2-40B4-BE49-F238E27FC236}">
                <a16:creationId xmlns:a16="http://schemas.microsoft.com/office/drawing/2014/main" id="{2811DC79-428B-4CF6-A9BD-055EA6D9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86050"/>
            <a:ext cx="5095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Digital IF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8359B8-998B-4A3F-AD94-1CEE8F84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53054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4" name="text Real-valued">
            <a:extLst xmlns:a="http://schemas.openxmlformats.org/drawingml/2006/main">
              <a:ext uri="{FF2B5EF4-FFF2-40B4-BE49-F238E27FC236}">
                <a16:creationId xmlns:a16="http://schemas.microsoft.com/office/drawing/2014/main" id="{28B2D49A-EF22-467F-AA61-013041CD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2427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4C29A"/>
                </a:solidFill>
                <a:latin typeface="Segoe UI"/>
                <a:ea typeface="Segoe UI"/>
                <a:cs typeface="Segoe UI"/>
              </a:rPr>
              <a:t>Real-valued</a:t>
            </a:r>
          </a:p>
        </p:txBody>
      </p:sp>
      <p:sp>
        <p:nvSpPr>
          <p:cNvPr id="15" name="text Sample representation">
            <a:extLst xmlns:a="http://schemas.openxmlformats.org/drawingml/2006/main">
              <a:ext uri="{FF2B5EF4-FFF2-40B4-BE49-F238E27FC236}">
                <a16:creationId xmlns:a16="http://schemas.microsoft.com/office/drawing/2014/main" id="{9FA98CDC-F428-4E41-9F9B-81BAE38E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14800"/>
            <a:ext cx="5095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Sample representation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A7EED1-CF28-4C31-867A-E921AECB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629025"/>
            <a:ext cx="53054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7" name="text 4 bits">
            <a:extLst xmlns:a="http://schemas.openxmlformats.org/drawingml/2006/main">
              <a:ext uri="{FF2B5EF4-FFF2-40B4-BE49-F238E27FC236}">
                <a16:creationId xmlns:a16="http://schemas.microsoft.com/office/drawing/2014/main" id="{566F8556-2B5E-40FE-AB02-55B3D01D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2427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A37AE8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A37AE8"/>
                </a:solidFill>
                <a:latin typeface="Segoe UI"/>
                <a:ea typeface="Segoe UI"/>
                <a:cs typeface="Segoe UI"/>
              </a:rPr>
              <a:t>4 bits</a:t>
            </a:r>
          </a:p>
        </p:txBody>
      </p:sp>
      <p:sp>
        <p:nvSpPr>
          <p:cNvPr id="18" name="text ADC resolution">
            <a:extLst xmlns:a="http://schemas.openxmlformats.org/drawingml/2006/main">
              <a:ext uri="{FF2B5EF4-FFF2-40B4-BE49-F238E27FC236}">
                <a16:creationId xmlns:a16="http://schemas.microsoft.com/office/drawing/2014/main" id="{C62979B0-0837-4497-855E-E31767C8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14800"/>
            <a:ext cx="5095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ADC resolution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922F4D-05B8-4F25-BBFA-C69FBD8F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34025"/>
            <a:ext cx="10915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EE1A1E-43E5-451F-9B79-D29F3725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34025"/>
            <a:ext cx="381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8D4"/>
          </a:solidFill>
          <a:ln xmlns:a="http://schemas.openxmlformats.org/drawingml/2006/main" w="0">
            <a:solidFill>
              <a:srgbClr val="26B8D4"/>
            </a:solidFill>
            <a:prstDash val="solid"/>
          </a:ln>
        </p:spPr>
      </p:sp>
      <p:sp>
        <p:nvSpPr>
          <p:cNvPr id="21" name="text 1 ms of GPS C/A contains 38,192 dig">
            <a:extLst xmlns:a="http://schemas.openxmlformats.org/drawingml/2006/main">
              <a:ext uri="{FF2B5EF4-FFF2-40B4-BE49-F238E27FC236}">
                <a16:creationId xmlns:a16="http://schemas.microsoft.com/office/drawing/2014/main" id="{F84C3F77-BAEA-4B70-BA2C-6E5EA3D0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1022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1 ms of GPS C/A contains 38,192 digital samples and 1,023 chips.</a:t>
            </a:r>
          </a:p>
        </p:txBody>
      </p:sp>
    </p:spTree>
    <p:extLst>
      <p:ext uri="{BB962C8B-B14F-4D97-AF65-F5344CB8AC3E}">
        <p14:creationId xmlns:p14="http://schemas.microsoft.com/office/powerpoint/2010/main" val="144486875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5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 AFTER THE FRONT END">
            <a:extLst xmlns:a="http://schemas.openxmlformats.org/drawingml/2006/main">
              <a:ext uri="{FF2B5EF4-FFF2-40B4-BE49-F238E27FC236}">
                <a16:creationId xmlns:a16="http://schemas.microsoft.com/office/drawing/2014/main" id="{E6B532D8-5A35-4BC1-BA38-33B2E5AA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6B8D4"/>
                </a:solidFill>
                <a:latin typeface="Segoe UI"/>
                <a:ea typeface="Segoe UI"/>
                <a:cs typeface="Segoe UI"/>
              </a:rPr>
              <a:t>AFTER THE FRONT END</a:t>
            </a:r>
          </a:p>
        </p:txBody>
      </p:sp>
      <p:sp>
        <p:nvSpPr>
          <p:cNvPr id="2" name="text Acquisition searches code delay and">
            <a:extLst xmlns:a="http://schemas.openxmlformats.org/drawingml/2006/main">
              <a:ext uri="{FF2B5EF4-FFF2-40B4-BE49-F238E27FC236}">
                <a16:creationId xmlns:a16="http://schemas.microsoft.com/office/drawing/2014/main" id="{17BA2A87-8112-4BF7-9474-22CF17AC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7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Acquisition searches code delay and Doppler</a:t>
            </a:r>
          </a:p>
        </p:txBody>
      </p:sp>
      <p:sp>
        <p:nvSpPr>
          <p:cNvPr id="3" name="text A sampled IF waveform becomes an in">
            <a:extLst xmlns:a="http://schemas.openxmlformats.org/drawingml/2006/main">
              <a:ext uri="{FF2B5EF4-FFF2-40B4-BE49-F238E27FC236}">
                <a16:creationId xmlns:a16="http://schemas.microsoft.com/office/drawing/2014/main" id="{F17F0C78-5D38-4648-82B2-C8C78F80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A sampled IF waveform becomes an input to local-code and carrier hypotheses.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B1932-59B6-4CBE-9A52-ED1A2378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6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5" name="text GNSS FRONT END  |  NCGSA VIRTUAL GN">
            <a:extLst xmlns:a="http://schemas.openxmlformats.org/drawingml/2006/main">
              <a:ext uri="{FF2B5EF4-FFF2-40B4-BE49-F238E27FC236}">
                <a16:creationId xmlns:a16="http://schemas.microsoft.com/office/drawing/2014/main" id="{F80363A9-7469-4745-9BCE-B7A1AEA6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81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GNSS FRONT END  |  NCGSA VIRTUAL GNSS LABORATORY</a:t>
            </a:r>
          </a:p>
        </p:txBody>
      </p:sp>
      <p:sp>
        <p:nvSpPr>
          <p:cNvPr id="6" name="text 23">
            <a:extLst xmlns:a="http://schemas.openxmlformats.org/drawingml/2006/main">
              <a:ext uri="{FF2B5EF4-FFF2-40B4-BE49-F238E27FC236}">
                <a16:creationId xmlns:a16="http://schemas.microsoft.com/office/drawing/2014/main" id="{69AC8EA0-A48B-4B89-B11E-1D1387C3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CB699-1159-434F-9C5F-C8105848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907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991CD-FB76-47DE-ACDB-94584F40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90775"/>
            <a:ext cx="4762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8D4"/>
          </a:solidFill>
          <a:ln xmlns:a="http://schemas.openxmlformats.org/drawingml/2006/main" w="0">
            <a:solidFill>
              <a:srgbClr val="26B8D4"/>
            </a:solidFill>
            <a:prstDash val="solid"/>
          </a:ln>
        </p:spPr>
      </p:sp>
      <p:sp>
        <p:nvSpPr>
          <p:cNvPr id="9" name="text DIGITAL IF">
            <a:extLst xmlns:a="http://schemas.openxmlformats.org/drawingml/2006/main">
              <a:ext uri="{FF2B5EF4-FFF2-40B4-BE49-F238E27FC236}">
                <a16:creationId xmlns:a16="http://schemas.microsoft.com/office/drawing/2014/main" id="{9A8C8FB4-EA00-46B1-871B-13D17A84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476500"/>
            <a:ext cx="26384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DIGITAL IF</a:t>
            </a:r>
          </a:p>
        </p:txBody>
      </p:sp>
      <p:sp>
        <p:nvSpPr>
          <p:cNvPr id="10" name="text x[n], fₛ, fIF and sample format">
            <a:extLst xmlns:a="http://schemas.openxmlformats.org/drawingml/2006/main">
              <a:ext uri="{FF2B5EF4-FFF2-40B4-BE49-F238E27FC236}">
                <a16:creationId xmlns:a16="http://schemas.microsoft.com/office/drawing/2014/main" id="{9BC989F1-3156-4161-A2B5-2AB8E446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90825"/>
            <a:ext cx="26384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x[n], fₛ, fIF and sample format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5AAFB-A6A5-49EE-9460-3F52A793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90850"/>
            <a:ext cx="419100" cy="2952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2A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C2845A-7DFE-401B-9675-A5F82677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90775"/>
            <a:ext cx="3190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1E739C-8082-4F0E-B686-8B38AD92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90775"/>
            <a:ext cx="4762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14" name="text WIPE-OFF + CORRELATE">
            <a:extLst xmlns:a="http://schemas.openxmlformats.org/drawingml/2006/main">
              <a:ext uri="{FF2B5EF4-FFF2-40B4-BE49-F238E27FC236}">
                <a16:creationId xmlns:a16="http://schemas.microsoft.com/office/drawing/2014/main" id="{80FF672C-04D6-466D-8FC5-D6D352A3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476500"/>
            <a:ext cx="2971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WIPE-OFF + CORRELATE</a:t>
            </a:r>
          </a:p>
        </p:txBody>
      </p:sp>
      <p:sp>
        <p:nvSpPr>
          <p:cNvPr id="15" name="text Local carrier and PRN replicas">
            <a:extLst xmlns:a="http://schemas.openxmlformats.org/drawingml/2006/main">
              <a:ext uri="{FF2B5EF4-FFF2-40B4-BE49-F238E27FC236}">
                <a16:creationId xmlns:a16="http://schemas.microsoft.com/office/drawing/2014/main" id="{7E53D220-520B-42DE-9C9F-C7AC0558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90825"/>
            <a:ext cx="2971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Local carrier and PRN replicas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3080B0-23A6-4515-AFFD-0E65B39F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90850"/>
            <a:ext cx="419100" cy="2952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2A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93D760-18F3-4F8A-9DBF-62B7CEBC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90775"/>
            <a:ext cx="34480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63345-4950-4421-AA77-7DCCB60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90775"/>
            <a:ext cx="4762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19" name="text ACQUISITION RESULT">
            <a:extLst xmlns:a="http://schemas.openxmlformats.org/drawingml/2006/main">
              <a:ext uri="{FF2B5EF4-FFF2-40B4-BE49-F238E27FC236}">
                <a16:creationId xmlns:a16="http://schemas.microsoft.com/office/drawing/2014/main" id="{AF567CFF-8FF7-4154-A516-E1995DBB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3228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ACQUISITION RESULT</a:t>
            </a:r>
          </a:p>
        </p:txBody>
      </p:sp>
      <p:sp>
        <p:nvSpPr>
          <p:cNvPr id="20" name="text Code phase, Doppler and metric">
            <a:extLst xmlns:a="http://schemas.openxmlformats.org/drawingml/2006/main">
              <a:ext uri="{FF2B5EF4-FFF2-40B4-BE49-F238E27FC236}">
                <a16:creationId xmlns:a16="http://schemas.microsoft.com/office/drawing/2014/main" id="{A975F3F6-E71B-49C8-8213-A44570E8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90825"/>
            <a:ext cx="32289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Code phase, Doppler and metric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C51483-C375-401E-9BE3-86A0C1BB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639425" cy="94297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22" name="text xD[n] = r[n] · exp{−j2π(fIF,digital">
            <a:extLst xmlns:a="http://schemas.openxmlformats.org/drawingml/2006/main">
              <a:ext uri="{FF2B5EF4-FFF2-40B4-BE49-F238E27FC236}">
                <a16:creationId xmlns:a16="http://schemas.microsoft.com/office/drawing/2014/main" id="{BC5FE065-A9B5-4771-9DC3-3DAB0576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71975"/>
            <a:ext cx="102012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xD[n] = r[n] · exp{−j2π(fIF,digital + fD) n / fₛ}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52D39B-B8A4-44D5-93CF-80FFCDE8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43550"/>
            <a:ext cx="10915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83AEF9-0AF6-423D-B9E7-53DB866D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43550"/>
            <a:ext cx="381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8D4"/>
          </a:solidFill>
          <a:ln xmlns:a="http://schemas.openxmlformats.org/drawingml/2006/main" w="0">
            <a:solidFill>
              <a:srgbClr val="26B8D4"/>
            </a:solidFill>
            <a:prstDash val="solid"/>
          </a:ln>
        </p:spPr>
      </p:sp>
      <p:sp>
        <p:nvSpPr>
          <p:cNvPr id="25" name="text The Front End dashboard demonstrate">
            <a:extLst xmlns:a="http://schemas.openxmlformats.org/drawingml/2006/main">
              <a:ext uri="{FF2B5EF4-FFF2-40B4-BE49-F238E27FC236}">
                <a16:creationId xmlns:a16="http://schemas.microsoft.com/office/drawing/2014/main" id="{7F167E51-46B7-4994-B15B-A0BFF6F2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1975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The Front End dashboard demonstrates preparation; its output is not automatically transferred to Acquisition.</a:t>
            </a:r>
          </a:p>
        </p:txBody>
      </p:sp>
    </p:spTree>
    <p:extLst>
      <p:ext uri="{BB962C8B-B14F-4D97-AF65-F5344CB8AC3E}">
        <p14:creationId xmlns:p14="http://schemas.microsoft.com/office/powerpoint/2010/main" val="52222355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5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 DASHBOARD LAB  ·  PART A">
            <a:extLst xmlns:a="http://schemas.openxmlformats.org/drawingml/2006/main">
              <a:ext uri="{FF2B5EF4-FFF2-40B4-BE49-F238E27FC236}">
                <a16:creationId xmlns:a16="http://schemas.microsoft.com/office/drawing/2014/main" id="{EFD0309D-5A5F-4990-A010-A474F0C7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4C29A"/>
                </a:solidFill>
                <a:latin typeface="Segoe UI"/>
                <a:ea typeface="Segoe UI"/>
                <a:cs typeface="Segoe UI"/>
              </a:rPr>
              <a:t>DASHBOARD LAB  ·  PART A</a:t>
            </a:r>
          </a:p>
        </p:txBody>
      </p:sp>
      <p:sp>
        <p:nvSpPr>
          <p:cNvPr id="2" name="text Diagnose the analog signal chain">
            <a:extLst xmlns:a="http://schemas.openxmlformats.org/drawingml/2006/main">
              <a:ext uri="{FF2B5EF4-FFF2-40B4-BE49-F238E27FC236}">
                <a16:creationId xmlns:a16="http://schemas.microsoft.com/office/drawing/2014/main" id="{561651D9-01F1-4B8B-82F1-BE7E7AD3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7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Diagnose the analog signal chain</a:t>
            </a:r>
          </a:p>
        </p:txBody>
      </p:sp>
      <p:sp>
        <p:nvSpPr>
          <p:cNvPr id="3" name="text Work sequentially through lessons 0">
            <a:extLst xmlns:a="http://schemas.openxmlformats.org/drawingml/2006/main">
              <a:ext uri="{FF2B5EF4-FFF2-40B4-BE49-F238E27FC236}">
                <a16:creationId xmlns:a16="http://schemas.microsoft.com/office/drawing/2014/main" id="{F07E3854-FAE5-4DBB-B0CD-7CAD3E6D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Work sequentially through lessons 01–05 and record a brief engineering justification.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92E77-6E2F-470D-9D65-F3F30E62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6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5" name="text GNSS FRONT END  |  NCGSA VIRTUAL GN">
            <a:extLst xmlns:a="http://schemas.openxmlformats.org/drawingml/2006/main">
              <a:ext uri="{FF2B5EF4-FFF2-40B4-BE49-F238E27FC236}">
                <a16:creationId xmlns:a16="http://schemas.microsoft.com/office/drawing/2014/main" id="{BA3227C4-0C99-4F49-BA03-D6216997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81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GNSS FRONT END  |  NCGSA VIRTUAL GNSS LABORATORY</a:t>
            </a:r>
          </a:p>
        </p:txBody>
      </p:sp>
      <p:sp>
        <p:nvSpPr>
          <p:cNvPr id="6" name="text 24">
            <a:extLst xmlns:a="http://schemas.openxmlformats.org/drawingml/2006/main">
              <a:ext uri="{FF2B5EF4-FFF2-40B4-BE49-F238E27FC236}">
                <a16:creationId xmlns:a16="http://schemas.microsoft.com/office/drawing/2014/main" id="{1D2931FF-66B6-4E58-A5F2-B086EDAC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BBEBE-E640-468A-843A-6E7C4FFA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76425"/>
            <a:ext cx="109728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D9A8D-5E94-4D45-BEA7-D07A557B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24050"/>
            <a:ext cx="504825" cy="5143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26B8D4"/>
          </a:solidFill>
          <a:ln xmlns:a="http://schemas.openxmlformats.org/drawingml/2006/main" w="0">
            <a:solidFill>
              <a:srgbClr val="26B8D4"/>
            </a:solidFill>
            <a:prstDash val="solid"/>
          </a:ln>
        </p:spPr>
      </p:sp>
      <p:sp>
        <p:nvSpPr>
          <p:cNvPr id="9" name="text 01">
            <a:extLst xmlns:a="http://schemas.openxmlformats.org/drawingml/2006/main">
              <a:ext uri="{FF2B5EF4-FFF2-40B4-BE49-F238E27FC236}">
                <a16:creationId xmlns:a16="http://schemas.microsoft.com/office/drawing/2014/main" id="{7E1B33DA-7A3B-481F-A76D-0F2DD59D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62150"/>
            <a:ext cx="466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50D14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0" name="text Trace eight analog/digital blocks a">
            <a:extLst xmlns:a="http://schemas.openxmlformats.org/drawingml/2006/main">
              <a:ext uri="{FF2B5EF4-FFF2-40B4-BE49-F238E27FC236}">
                <a16:creationId xmlns:a16="http://schemas.microsoft.com/office/drawing/2014/main" id="{A012E17A-4436-4C2A-9BD0-8C8C950E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71675"/>
            <a:ext cx="9896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Trace eight analog/digital blocks and both LO/clock branches.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BADC6-04B2-4B06-808F-6264D47E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09850"/>
            <a:ext cx="109728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D67FE0-CDB2-4996-9A8F-B4C0E877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57475"/>
            <a:ext cx="504825" cy="5143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13" name="text 02">
            <a:extLst xmlns:a="http://schemas.openxmlformats.org/drawingml/2006/main">
              <a:ext uri="{FF2B5EF4-FFF2-40B4-BE49-F238E27FC236}">
                <a16:creationId xmlns:a16="http://schemas.microsoft.com/office/drawing/2014/main" id="{C6FA2180-6697-4176-84C7-E9A144B1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95575"/>
            <a:ext cx="466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50D14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4" name="text Sweep axial ratio: 0, 3, 6 and 20 d">
            <a:extLst xmlns:a="http://schemas.openxmlformats.org/drawingml/2006/main">
              <a:ext uri="{FF2B5EF4-FFF2-40B4-BE49-F238E27FC236}">
                <a16:creationId xmlns:a16="http://schemas.microsoft.com/office/drawing/2014/main" id="{3306E596-AFC5-43E5-8DC6-5638BF87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05100"/>
            <a:ext cx="9896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Sweep axial ratio: 0, 3, 6 and 20 dB. Note mismatch trend.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714066-B726-4FE5-90A3-5B1A9362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43275"/>
            <a:ext cx="109728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328FDD-06EB-452A-B1F4-70C6E149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90900"/>
            <a:ext cx="504825" cy="5143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26B8D4"/>
          </a:solidFill>
          <a:ln xmlns:a="http://schemas.openxmlformats.org/drawingml/2006/main" w="0">
            <a:solidFill>
              <a:srgbClr val="26B8D4"/>
            </a:solidFill>
            <a:prstDash val="solid"/>
          </a:ln>
        </p:spPr>
      </p:sp>
      <p:sp>
        <p:nvSpPr>
          <p:cNvPr id="17" name="text 03">
            <a:extLst xmlns:a="http://schemas.openxmlformats.org/drawingml/2006/main">
              <a:ext uri="{FF2B5EF4-FFF2-40B4-BE49-F238E27FC236}">
                <a16:creationId xmlns:a16="http://schemas.microsoft.com/office/drawing/2014/main" id="{CFF7BBB4-60A2-4EF1-B937-6BB13C52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29000"/>
            <a:ext cx="466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50D14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8" name="text Move 8 dB cable loss before/after L">
            <a:extLst xmlns:a="http://schemas.openxmlformats.org/drawingml/2006/main">
              <a:ext uri="{FF2B5EF4-FFF2-40B4-BE49-F238E27FC236}">
                <a16:creationId xmlns:a16="http://schemas.microsoft.com/office/drawing/2014/main" id="{9C9F8E22-F8FE-42E1-AC57-C87405AB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38525"/>
            <a:ext cx="9896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Move 8 dB cable loss before/after LNA. Compare NF.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A468C5-9994-478E-9566-1BD49BE1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76700"/>
            <a:ext cx="109728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7C4CD6-CE6B-4B56-BFED-9D150FD9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24325"/>
            <a:ext cx="504825" cy="5143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21" name="text 04">
            <a:extLst xmlns:a="http://schemas.openxmlformats.org/drawingml/2006/main">
              <a:ext uri="{FF2B5EF4-FFF2-40B4-BE49-F238E27FC236}">
                <a16:creationId xmlns:a16="http://schemas.microsoft.com/office/drawing/2014/main" id="{F64E5221-8623-4C61-B375-7F4249E0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62425"/>
            <a:ext cx="466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50D14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2" name="text Compare filter bandwidths: 1, 2.046">
            <a:extLst xmlns:a="http://schemas.openxmlformats.org/drawingml/2006/main">
              <a:ext uri="{FF2B5EF4-FFF2-40B4-BE49-F238E27FC236}">
                <a16:creationId xmlns:a16="http://schemas.microsoft.com/office/drawing/2014/main" id="{2B68D311-43C8-463E-B5F3-86029549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71950"/>
            <a:ext cx="9896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Compare filter bandwidths: 1, 2.046, 6 and 12 MHz.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A4E4FF-3530-4D3E-B45E-9056FC6E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10125"/>
            <a:ext cx="109728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F3225E-8A45-42E3-A918-F5B794DE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504825" cy="5143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26B8D4"/>
          </a:solidFill>
          <a:ln xmlns:a="http://schemas.openxmlformats.org/drawingml/2006/main" w="0">
            <a:solidFill>
              <a:srgbClr val="26B8D4"/>
            </a:solidFill>
            <a:prstDash val="solid"/>
          </a:ln>
        </p:spPr>
      </p:sp>
      <p:sp>
        <p:nvSpPr>
          <p:cNvPr id="25" name="text 05">
            <a:extLst xmlns:a="http://schemas.openxmlformats.org/drawingml/2006/main">
              <a:ext uri="{FF2B5EF4-FFF2-40B4-BE49-F238E27FC236}">
                <a16:creationId xmlns:a16="http://schemas.microsoft.com/office/drawing/2014/main" id="{EAB3590F-B4B3-4ED0-A0E0-BC3E09E0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95850"/>
            <a:ext cx="466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50D14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6" name="text Compute difference, sum and image f">
            <a:extLst xmlns:a="http://schemas.openxmlformats.org/drawingml/2006/main">
              <a:ext uri="{FF2B5EF4-FFF2-40B4-BE49-F238E27FC236}">
                <a16:creationId xmlns:a16="http://schemas.microsoft.com/office/drawing/2014/main" id="{71295CD6-03DE-46C1-A503-ED4E737E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05375"/>
            <a:ext cx="9896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Compute difference, sum and image frequency for GPS L1.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BDDDF3-702F-49D4-BA61-2FC984A8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81650"/>
            <a:ext cx="10915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AF852C-3545-4D14-BEEB-DC528879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81650"/>
            <a:ext cx="381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29" name="text Record: control setting → observati">
            <a:extLst xmlns:a="http://schemas.openxmlformats.org/drawingml/2006/main">
              <a:ext uri="{FF2B5EF4-FFF2-40B4-BE49-F238E27FC236}">
                <a16:creationId xmlns:a16="http://schemas.microsoft.com/office/drawing/2014/main" id="{3A640DDD-79DE-44FF-A31F-2A89A6C5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5785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Record: control setting → observation → physical explanation.</a:t>
            </a:r>
          </a:p>
        </p:txBody>
      </p:sp>
    </p:spTree>
    <p:extLst>
      <p:ext uri="{BB962C8B-B14F-4D97-AF65-F5344CB8AC3E}">
        <p14:creationId xmlns:p14="http://schemas.microsoft.com/office/powerpoint/2010/main" val="62318203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5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 DASHBOARD LAB  ·  PART B">
            <a:extLst xmlns:a="http://schemas.openxmlformats.org/drawingml/2006/main">
              <a:ext uri="{FF2B5EF4-FFF2-40B4-BE49-F238E27FC236}">
                <a16:creationId xmlns:a16="http://schemas.microsoft.com/office/drawing/2014/main" id="{0E2E8FEF-A48E-49BD-84C5-9245900F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4C29A"/>
                </a:solidFill>
                <a:latin typeface="Segoe UI"/>
                <a:ea typeface="Segoe UI"/>
                <a:cs typeface="Segoe UI"/>
              </a:rPr>
              <a:t>DASHBOARD LAB  ·  PART B</a:t>
            </a:r>
          </a:p>
        </p:txBody>
      </p:sp>
      <p:sp>
        <p:nvSpPr>
          <p:cNvPr id="2" name="text Verify the digital conversion and h">
            <a:extLst xmlns:a="http://schemas.openxmlformats.org/drawingml/2006/main">
              <a:ext uri="{FF2B5EF4-FFF2-40B4-BE49-F238E27FC236}">
                <a16:creationId xmlns:a16="http://schemas.microsoft.com/office/drawing/2014/main" id="{0428506C-FB01-4DE4-9391-4E6A089B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7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Verify the digital conversion and handoff</a:t>
            </a:r>
          </a:p>
        </p:txBody>
      </p:sp>
      <p:sp>
        <p:nvSpPr>
          <p:cNvPr id="3" name="text Work through lessons 06–09. Present">
            <a:extLst xmlns:a="http://schemas.openxmlformats.org/drawingml/2006/main">
              <a:ext uri="{FF2B5EF4-FFF2-40B4-BE49-F238E27FC236}">
                <a16:creationId xmlns:a16="http://schemas.microsoft.com/office/drawing/2014/main" id="{8196816B-79D6-44F8-B160-E2F3AFA7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Work through lessons 06–09. Present the observations, not just screenshots.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6CDE0-430D-4399-A3CE-35B24299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6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5" name="text GNSS FRONT END  |  NCGSA VIRTUAL GN">
            <a:extLst xmlns:a="http://schemas.openxmlformats.org/drawingml/2006/main">
              <a:ext uri="{FF2B5EF4-FFF2-40B4-BE49-F238E27FC236}">
                <a16:creationId xmlns:a16="http://schemas.microsoft.com/office/drawing/2014/main" id="{048D6F3A-6254-42D2-ABD2-90A40274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81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GNSS FRONT END  |  NCGSA VIRTUAL GNSS LABORATORY</a:t>
            </a:r>
          </a:p>
        </p:txBody>
      </p:sp>
      <p:sp>
        <p:nvSpPr>
          <p:cNvPr id="6" name="text 25">
            <a:extLst xmlns:a="http://schemas.openxmlformats.org/drawingml/2006/main">
              <a:ext uri="{FF2B5EF4-FFF2-40B4-BE49-F238E27FC236}">
                <a16:creationId xmlns:a16="http://schemas.microsoft.com/office/drawing/2014/main" id="{4670878A-5D2A-4C91-9403-06256316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CA1F4-B51E-4FC3-93ED-285A4186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BFA93-E6A2-4CCA-845B-582A4644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76450"/>
            <a:ext cx="504825" cy="5143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4DA4F4"/>
          </a:solidFill>
          <a:ln xmlns:a="http://schemas.openxmlformats.org/drawingml/2006/main" w="0">
            <a:solidFill>
              <a:srgbClr val="4DA4F4"/>
            </a:solidFill>
            <a:prstDash val="solid"/>
          </a:ln>
        </p:spPr>
      </p:sp>
      <p:sp>
        <p:nvSpPr>
          <p:cNvPr id="9" name="text 06">
            <a:extLst xmlns:a="http://schemas.openxmlformats.org/drawingml/2006/main">
              <a:ext uri="{FF2B5EF4-FFF2-40B4-BE49-F238E27FC236}">
                <a16:creationId xmlns:a16="http://schemas.microsoft.com/office/drawing/2014/main" id="{1C8C640B-DD98-4066-A95E-91BEB6D8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14550"/>
            <a:ext cx="466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50D14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10" name="text Test fₛ = 38.192, 28, 30 and 47.74 ">
            <a:extLst xmlns:a="http://schemas.openxmlformats.org/drawingml/2006/main">
              <a:ext uri="{FF2B5EF4-FFF2-40B4-BE49-F238E27FC236}">
                <a16:creationId xmlns:a16="http://schemas.microsoft.com/office/drawing/2014/main" id="{29A8E26A-320B-4E72-9ACE-6826B796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76450"/>
            <a:ext cx="960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Test fₛ = 38.192, 28, 30 and 47.74 MS/s. Explain aliases.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B4930-D342-4BC6-B60E-F1F26C7B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28925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D7730-3A57-4A12-A56E-DDA58263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33700"/>
            <a:ext cx="504825" cy="5143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13" name="text 07">
            <a:extLst xmlns:a="http://schemas.openxmlformats.org/drawingml/2006/main">
              <a:ext uri="{FF2B5EF4-FFF2-40B4-BE49-F238E27FC236}">
                <a16:creationId xmlns:a16="http://schemas.microsoft.com/office/drawing/2014/main" id="{E8DF86E8-1CC8-432F-8C6B-FE939BA9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71800"/>
            <a:ext cx="466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50D14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14" name="text Compare 1, 2, 4 and 8-bit output; m">
            <a:extLst xmlns:a="http://schemas.openxmlformats.org/drawingml/2006/main">
              <a:ext uri="{FF2B5EF4-FFF2-40B4-BE49-F238E27FC236}">
                <a16:creationId xmlns:a16="http://schemas.microsoft.com/office/drawing/2014/main" id="{810A9965-5512-4109-91F2-FDBA259D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33700"/>
            <a:ext cx="960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Compare 1, 2, 4 and 8-bit output; monitor clipping.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9679C-83A9-44E0-8725-B40D8F38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E26FEA-D838-4078-89D3-A9C5D074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90950"/>
            <a:ext cx="504825" cy="5143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4DA4F4"/>
          </a:solidFill>
          <a:ln xmlns:a="http://schemas.openxmlformats.org/drawingml/2006/main" w="0">
            <a:solidFill>
              <a:srgbClr val="4DA4F4"/>
            </a:solidFill>
            <a:prstDash val="solid"/>
          </a:ln>
        </p:spPr>
      </p:sp>
      <p:sp>
        <p:nvSpPr>
          <p:cNvPr id="17" name="text 08">
            <a:extLst xmlns:a="http://schemas.openxmlformats.org/drawingml/2006/main">
              <a:ext uri="{FF2B5EF4-FFF2-40B4-BE49-F238E27FC236}">
                <a16:creationId xmlns:a16="http://schemas.microsoft.com/office/drawing/2014/main" id="{5E70FD12-2A2F-48AE-AB83-00E48058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29050"/>
            <a:ext cx="466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50D14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18" name="text Read waveform, histogram and PSD; i">
            <a:extLst xmlns:a="http://schemas.openxmlformats.org/drawingml/2006/main">
              <a:ext uri="{FF2B5EF4-FFF2-40B4-BE49-F238E27FC236}">
                <a16:creationId xmlns:a16="http://schemas.microsoft.com/office/drawing/2014/main" id="{A108624A-C04B-4106-8E44-DE1A2CF3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90950"/>
            <a:ext cx="960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Read waveform, histogram and PSD; identify one fault per view.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1B5766-0AC7-45FD-8EB2-2A2A0C2A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43425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CFBBC-0298-440F-9A24-A00A9AA9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648200"/>
            <a:ext cx="504825" cy="5143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21" name="text 09">
            <a:extLst xmlns:a="http://schemas.openxmlformats.org/drawingml/2006/main">
              <a:ext uri="{FF2B5EF4-FFF2-40B4-BE49-F238E27FC236}">
                <a16:creationId xmlns:a16="http://schemas.microsoft.com/office/drawing/2014/main" id="{4F5DA721-7131-4D35-B95B-8AEC38B4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686300"/>
            <a:ext cx="466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50D14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50D14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22" name="text List handoff metadata and compute s">
            <a:extLst xmlns:a="http://schemas.openxmlformats.org/drawingml/2006/main">
              <a:ext uri="{FF2B5EF4-FFF2-40B4-BE49-F238E27FC236}">
                <a16:creationId xmlns:a16="http://schemas.microsoft.com/office/drawing/2014/main" id="{59668642-7C12-42E8-9016-849144B2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48200"/>
            <a:ext cx="960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List handoff metadata and compute samples in 1 ms.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3620AB-78DB-49E1-8739-F081651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48325"/>
            <a:ext cx="10915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1CE08D-6EE8-4263-A61D-CCEEBC53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48325"/>
            <a:ext cx="381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8D4"/>
          </a:solidFill>
          <a:ln xmlns:a="http://schemas.openxmlformats.org/drawingml/2006/main" w="0">
            <a:solidFill>
              <a:srgbClr val="26B8D4"/>
            </a:solidFill>
            <a:prstDash val="solid"/>
          </a:ln>
        </p:spPr>
      </p:sp>
      <p:sp>
        <p:nvSpPr>
          <p:cNvPr id="25" name="text Dashboard URL: https://nvgl.ncgsa.o">
            <a:extLst xmlns:a="http://schemas.openxmlformats.org/drawingml/2006/main">
              <a:ext uri="{FF2B5EF4-FFF2-40B4-BE49-F238E27FC236}">
                <a16:creationId xmlns:a16="http://schemas.microsoft.com/office/drawing/2014/main" id="{48131374-3C46-4E83-B61A-FAC40A44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2452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Dashboard URL: https://nvgl.ncgsa.org.pk/front-end/</a:t>
            </a:r>
          </a:p>
        </p:txBody>
      </p:sp>
    </p:spTree>
    <p:extLst>
      <p:ext uri="{BB962C8B-B14F-4D97-AF65-F5344CB8AC3E}">
        <p14:creationId xmlns:p14="http://schemas.microsoft.com/office/powerpoint/2010/main" val="205919321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5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 LEARNING CHECK">
            <a:extLst xmlns:a="http://schemas.openxmlformats.org/drawingml/2006/main">
              <a:ext uri="{FF2B5EF4-FFF2-40B4-BE49-F238E27FC236}">
                <a16:creationId xmlns:a16="http://schemas.microsoft.com/office/drawing/2014/main" id="{84C45747-FFC2-4861-97D0-FE8D9C1E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4C29A"/>
                </a:solidFill>
                <a:latin typeface="Segoe UI"/>
                <a:ea typeface="Segoe UI"/>
                <a:cs typeface="Segoe UI"/>
              </a:rPr>
              <a:t>LEARNING CHECK</a:t>
            </a:r>
          </a:p>
        </p:txBody>
      </p:sp>
      <p:sp>
        <p:nvSpPr>
          <p:cNvPr id="2" name="text Can you defend the front-end design">
            <a:extLst xmlns:a="http://schemas.openxmlformats.org/drawingml/2006/main">
              <a:ext uri="{FF2B5EF4-FFF2-40B4-BE49-F238E27FC236}">
                <a16:creationId xmlns:a16="http://schemas.microsoft.com/office/drawing/2014/main" id="{6959A4C7-56D5-460C-ADB3-1AFCF2DE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7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Can you defend the front-end design?</a:t>
            </a:r>
          </a:p>
        </p:txBody>
      </p:sp>
      <p:sp>
        <p:nvSpPr>
          <p:cNvPr id="3" name="text Discuss before switching to the acq">
            <a:extLst xmlns:a="http://schemas.openxmlformats.org/drawingml/2006/main">
              <a:ext uri="{FF2B5EF4-FFF2-40B4-BE49-F238E27FC236}">
                <a16:creationId xmlns:a16="http://schemas.microsoft.com/office/drawing/2014/main" id="{26EE7C26-F2E0-4BF1-A934-497572E5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Discuss before switching to the acquisition dashboard.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BBB43-72F3-44FE-9A92-EB0B61AC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6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5" name="text GNSS FRONT END  |  NCGSA VIRTUAL GN">
            <a:extLst xmlns:a="http://schemas.openxmlformats.org/drawingml/2006/main">
              <a:ext uri="{FF2B5EF4-FFF2-40B4-BE49-F238E27FC236}">
                <a16:creationId xmlns:a16="http://schemas.microsoft.com/office/drawing/2014/main" id="{5B5891CF-A3B6-47B0-8D45-513D8449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81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GNSS FRONT END  |  NCGSA VIRTUAL GNSS LABORATORY</a:t>
            </a:r>
          </a:p>
        </p:txBody>
      </p:sp>
      <p:sp>
        <p:nvSpPr>
          <p:cNvPr id="6" name="text 26">
            <a:extLst xmlns:a="http://schemas.openxmlformats.org/drawingml/2006/main">
              <a:ext uri="{FF2B5EF4-FFF2-40B4-BE49-F238E27FC236}">
                <a16:creationId xmlns:a16="http://schemas.microsoft.com/office/drawing/2014/main" id="{334B6DA7-C7E9-488A-8DA8-2B209028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898E1-09D6-4DA5-97CB-37A79840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658475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8" name="text 01">
            <a:extLst xmlns:a="http://schemas.openxmlformats.org/drawingml/2006/main">
              <a:ext uri="{FF2B5EF4-FFF2-40B4-BE49-F238E27FC236}">
                <a16:creationId xmlns:a16="http://schemas.microsoft.com/office/drawing/2014/main" id="{B3F8D83D-8818-452C-A557-7FEC3B3B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600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6B8D4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9" name="text Why does pre-LNA cable loss hurt se">
            <a:extLst xmlns:a="http://schemas.openxmlformats.org/drawingml/2006/main">
              <a:ext uri="{FF2B5EF4-FFF2-40B4-BE49-F238E27FC236}">
                <a16:creationId xmlns:a16="http://schemas.microsoft.com/office/drawing/2014/main" id="{470C974D-9585-4F79-B3C5-3ECD08ED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28825"/>
            <a:ext cx="9344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Why does pre-LNA cable loss hurt sensitivity?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C8F652-22DA-4BD1-AAF2-23B756E4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10658475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1" name="text 02">
            <a:extLst xmlns:a="http://schemas.openxmlformats.org/drawingml/2006/main">
              <a:ext uri="{FF2B5EF4-FFF2-40B4-BE49-F238E27FC236}">
                <a16:creationId xmlns:a16="http://schemas.microsoft.com/office/drawing/2014/main" id="{2B373DCD-A997-4032-8D60-E4F7385F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025"/>
            <a:ext cx="600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6B8D4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2" name="text How can two different RF inputs yie">
            <a:extLst xmlns:a="http://schemas.openxmlformats.org/drawingml/2006/main">
              <a:ext uri="{FF2B5EF4-FFF2-40B4-BE49-F238E27FC236}">
                <a16:creationId xmlns:a16="http://schemas.microsoft.com/office/drawing/2014/main" id="{299A2FE4-F698-408D-BFBB-ABBC57D3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19400"/>
            <a:ext cx="9344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How can two different RF inputs yield the same IF?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121A18-174D-40E8-8BEB-9E47AA1D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33775"/>
            <a:ext cx="10658475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4" name="text 03">
            <a:extLst xmlns:a="http://schemas.openxmlformats.org/drawingml/2006/main">
              <a:ext uri="{FF2B5EF4-FFF2-40B4-BE49-F238E27FC236}">
                <a16:creationId xmlns:a16="http://schemas.microsoft.com/office/drawing/2014/main" id="{7F0092C4-82F0-43AD-837E-8E161D95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600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6B8D4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5" name="text Why check aliasing of band edges, n">
            <a:extLst xmlns:a="http://schemas.openxmlformats.org/drawingml/2006/main">
              <a:ext uri="{FF2B5EF4-FFF2-40B4-BE49-F238E27FC236}">
                <a16:creationId xmlns:a16="http://schemas.microsoft.com/office/drawing/2014/main" id="{ADB26D51-AF43-49D6-A6DC-3DA8B1DC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09975"/>
            <a:ext cx="9344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Why check aliasing of band edges, not only centre?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0067DF-97C9-463D-9B1E-49C1B095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10658475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7" name="text 04">
            <a:extLst xmlns:a="http://schemas.openxmlformats.org/drawingml/2006/main">
              <a:ext uri="{FF2B5EF4-FFF2-40B4-BE49-F238E27FC236}">
                <a16:creationId xmlns:a16="http://schemas.microsoft.com/office/drawing/2014/main" id="{8755115B-A89D-474C-A11E-1A6F736B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48175"/>
            <a:ext cx="600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6B8D4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8" name="text What does a histogram reveal that a">
            <a:extLst xmlns:a="http://schemas.openxmlformats.org/drawingml/2006/main">
              <a:ext uri="{FF2B5EF4-FFF2-40B4-BE49-F238E27FC236}">
                <a16:creationId xmlns:a16="http://schemas.microsoft.com/office/drawing/2014/main" id="{8C55723C-1598-4ACA-B3AD-F729D213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00550"/>
            <a:ext cx="9344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What does a histogram reveal that a PSD cannot?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E50663-5C50-4EC6-A237-233A6CC1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14925"/>
            <a:ext cx="10658475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20" name="text 05">
            <a:extLst xmlns:a="http://schemas.openxmlformats.org/drawingml/2006/main">
              <a:ext uri="{FF2B5EF4-FFF2-40B4-BE49-F238E27FC236}">
                <a16:creationId xmlns:a16="http://schemas.microsoft.com/office/drawing/2014/main" id="{B16511F9-D884-4DAE-8554-D838670A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600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6B8D4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1" name="text What metadata is essential for loca">
            <a:extLst xmlns:a="http://schemas.openxmlformats.org/drawingml/2006/main">
              <a:ext uri="{FF2B5EF4-FFF2-40B4-BE49-F238E27FC236}">
                <a16:creationId xmlns:a16="http://schemas.microsoft.com/office/drawing/2014/main" id="{0223A32E-4D66-4C55-BA7C-67E417B8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91125"/>
            <a:ext cx="9344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What metadata is essential for local-carrier wipe-off?</a:t>
            </a:r>
          </a:p>
        </p:txBody>
      </p:sp>
    </p:spTree>
    <p:extLst>
      <p:ext uri="{BB962C8B-B14F-4D97-AF65-F5344CB8AC3E}">
        <p14:creationId xmlns:p14="http://schemas.microsoft.com/office/powerpoint/2010/main" val="492174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5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 TAKE-HOME SYNTHESIS">
            <a:extLst xmlns:a="http://schemas.openxmlformats.org/drawingml/2006/main">
              <a:ext uri="{FF2B5EF4-FFF2-40B4-BE49-F238E27FC236}">
                <a16:creationId xmlns:a16="http://schemas.microsoft.com/office/drawing/2014/main" id="{E07545A3-A708-46BB-8470-48B261D4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6B8D4"/>
                </a:solidFill>
                <a:latin typeface="Segoe UI"/>
                <a:ea typeface="Segoe UI"/>
                <a:cs typeface="Segoe UI"/>
              </a:rPr>
              <a:t>TAKE-HOME SYNTHESIS</a:t>
            </a:r>
          </a:p>
        </p:txBody>
      </p:sp>
      <p:sp>
        <p:nvSpPr>
          <p:cNvPr id="2" name="text From a weak RF wave to useful digit">
            <a:extLst xmlns:a="http://schemas.openxmlformats.org/drawingml/2006/main">
              <a:ext uri="{FF2B5EF4-FFF2-40B4-BE49-F238E27FC236}">
                <a16:creationId xmlns:a16="http://schemas.microsoft.com/office/drawing/2014/main" id="{E29295B1-C1B4-4135-A67F-98F5B291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7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From a weak RF wave to useful digital evidence</a:t>
            </a:r>
          </a:p>
        </p:txBody>
      </p:sp>
      <p:sp>
        <p:nvSpPr>
          <p:cNvPr id="3" name="text A receiver succeeds when analog fid">
            <a:extLst xmlns:a="http://schemas.openxmlformats.org/drawingml/2006/main">
              <a:ext uri="{FF2B5EF4-FFF2-40B4-BE49-F238E27FC236}">
                <a16:creationId xmlns:a16="http://schemas.microsoft.com/office/drawing/2014/main" id="{9405FB00-AE45-46A6-B1DB-02F5776F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1C4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1C4D2"/>
                </a:solidFill>
                <a:latin typeface="Segoe UI"/>
                <a:ea typeface="Segoe UI"/>
                <a:cs typeface="Segoe UI"/>
              </a:rPr>
              <a:t>A receiver succeeds when analog fidelity and digital assumptions agree.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38A4C-E250-4DF2-A058-BDFBDF86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6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5" name="text GNSS FRONT END  |  NCGSA VIRTUAL GN">
            <a:extLst xmlns:a="http://schemas.openxmlformats.org/drawingml/2006/main">
              <a:ext uri="{FF2B5EF4-FFF2-40B4-BE49-F238E27FC236}">
                <a16:creationId xmlns:a16="http://schemas.microsoft.com/office/drawing/2014/main" id="{32A007F7-1D7B-43D3-98FF-3F04C669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81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GNSS FRONT END  |  NCGSA VIRTUAL GNSS LABORATORY</a:t>
            </a:r>
          </a:p>
        </p:txBody>
      </p:sp>
      <p:sp>
        <p:nvSpPr>
          <p:cNvPr id="6" name="text 27">
            <a:extLst xmlns:a="http://schemas.openxmlformats.org/drawingml/2006/main">
              <a:ext uri="{FF2B5EF4-FFF2-40B4-BE49-F238E27FC236}">
                <a16:creationId xmlns:a16="http://schemas.microsoft.com/office/drawing/2014/main" id="{53418728-0F61-4892-8EBD-D4A8574B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2A2B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82A2B5"/>
                </a:solidFill>
                <a:latin typeface="Segoe UI"/>
                <a:ea typeface="Segoe UI"/>
                <a:cs typeface="Segoe UI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F0509-493F-4328-ADA6-C65C82EC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352675"/>
            <a:ext cx="3429000" cy="2343150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1BC66-D3D9-40D1-B06F-43C0CFD3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352675"/>
            <a:ext cx="47625" cy="2343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541"/>
          </a:solidFill>
          <a:ln xmlns:a="http://schemas.openxmlformats.org/drawingml/2006/main" w="0">
            <a:solidFill>
              <a:srgbClr val="F2B541"/>
            </a:solidFill>
            <a:prstDash val="solid"/>
          </a:ln>
        </p:spPr>
      </p:sp>
      <p:sp>
        <p:nvSpPr>
          <p:cNvPr id="9" name="text PRESERVE">
            <a:extLst xmlns:a="http://schemas.openxmlformats.org/drawingml/2006/main">
              <a:ext uri="{FF2B5EF4-FFF2-40B4-BE49-F238E27FC236}">
                <a16:creationId xmlns:a16="http://schemas.microsoft.com/office/drawing/2014/main" id="{255E77FC-5A16-47A9-9E8A-8401C969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524125"/>
            <a:ext cx="3019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2B541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2B541"/>
                </a:solidFill>
                <a:latin typeface="Segoe UI"/>
                <a:ea typeface="Segoe UI"/>
                <a:cs typeface="Segoe UI"/>
              </a:rPr>
              <a:t>PRESERVE</a:t>
            </a:r>
          </a:p>
        </p:txBody>
      </p:sp>
      <p:sp>
        <p:nvSpPr>
          <p:cNvPr id="10" name="text Signal power, phase and wanted band">
            <a:extLst xmlns:a="http://schemas.openxmlformats.org/drawingml/2006/main">
              <a:ext uri="{FF2B5EF4-FFF2-40B4-BE49-F238E27FC236}">
                <a16:creationId xmlns:a16="http://schemas.microsoft.com/office/drawing/2014/main" id="{5032F578-C0F5-4B55-8B29-94D42C8E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62275"/>
            <a:ext cx="3019425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Signal power, phase and wanted bandwidth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DC8CC2-3C99-4393-9E16-C20F23DC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352675"/>
            <a:ext cx="3429000" cy="2343150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D6027-D695-4671-86AB-B4EE0279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352675"/>
            <a:ext cx="47625" cy="2343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8D4"/>
          </a:solidFill>
          <a:ln xmlns:a="http://schemas.openxmlformats.org/drawingml/2006/main" w="0">
            <a:solidFill>
              <a:srgbClr val="26B8D4"/>
            </a:solidFill>
            <a:prstDash val="solid"/>
          </a:ln>
        </p:spPr>
      </p:sp>
      <p:sp>
        <p:nvSpPr>
          <p:cNvPr id="13" name="text TRANSLATE">
            <a:extLst xmlns:a="http://schemas.openxmlformats.org/drawingml/2006/main">
              <a:ext uri="{FF2B5EF4-FFF2-40B4-BE49-F238E27FC236}">
                <a16:creationId xmlns:a16="http://schemas.microsoft.com/office/drawing/2014/main" id="{7E93F220-EC20-4D02-881B-13893315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24125"/>
            <a:ext cx="3019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6B8D4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6B8D4"/>
                </a:solidFill>
                <a:latin typeface="Segoe UI"/>
                <a:ea typeface="Segoe UI"/>
                <a:cs typeface="Segoe UI"/>
              </a:rPr>
              <a:t>TRANSLATE</a:t>
            </a:r>
          </a:p>
        </p:txBody>
      </p:sp>
      <p:sp>
        <p:nvSpPr>
          <p:cNvPr id="14" name="text Use filtering, mixing and timing co">
            <a:extLst xmlns:a="http://schemas.openxmlformats.org/drawingml/2006/main">
              <a:ext uri="{FF2B5EF4-FFF2-40B4-BE49-F238E27FC236}">
                <a16:creationId xmlns:a16="http://schemas.microsoft.com/office/drawing/2014/main" id="{1FC02E31-08CF-46C7-8FD0-0C9EDF53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62275"/>
            <a:ext cx="3019425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Use filtering, mixing and timing coherently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47B54A-7815-44F6-8D32-52B60656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352675"/>
            <a:ext cx="3429000" cy="2343150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12202C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B8188-089E-4433-8C3D-0939154D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352675"/>
            <a:ext cx="47625" cy="2343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29A"/>
          </a:solidFill>
          <a:ln xmlns:a="http://schemas.openxmlformats.org/drawingml/2006/main" w="0">
            <a:solidFill>
              <a:srgbClr val="24C29A"/>
            </a:solidFill>
            <a:prstDash val="solid"/>
          </a:ln>
        </p:spPr>
      </p:sp>
      <p:sp>
        <p:nvSpPr>
          <p:cNvPr id="17" name="text REPRESENT">
            <a:extLst xmlns:a="http://schemas.openxmlformats.org/drawingml/2006/main">
              <a:ext uri="{FF2B5EF4-FFF2-40B4-BE49-F238E27FC236}">
                <a16:creationId xmlns:a16="http://schemas.microsoft.com/office/drawing/2014/main" id="{5E890CEB-B5AB-4BDF-B0BD-F4F84EB7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524125"/>
            <a:ext cx="3019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4C29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4C29A"/>
                </a:solidFill>
                <a:latin typeface="Segoe UI"/>
                <a:ea typeface="Segoe UI"/>
                <a:cs typeface="Segoe UI"/>
              </a:rPr>
              <a:t>REPRESENT</a:t>
            </a:r>
          </a:p>
        </p:txBody>
      </p:sp>
      <p:sp>
        <p:nvSpPr>
          <p:cNvPr id="18" name="text Sample and quantize without ambigui">
            <a:extLst xmlns:a="http://schemas.openxmlformats.org/drawingml/2006/main">
              <a:ext uri="{FF2B5EF4-FFF2-40B4-BE49-F238E27FC236}">
                <a16:creationId xmlns:a16="http://schemas.microsoft.com/office/drawing/2014/main" id="{63341CC8-D1B8-4902-B4C2-69E3B59C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962275"/>
            <a:ext cx="3019425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Sample and quantize without ambiguity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BFB6DE-A896-427A-933D-71475EAB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219700"/>
            <a:ext cx="10744200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0D1B26"/>
          </a:solidFill>
          <a:ln xmlns:a="http://schemas.openxmlformats.org/drawingml/2006/main" w="9525">
            <a:solidFill>
              <a:srgbClr val="213746"/>
            </a:solidFill>
            <a:prstDash val="solid"/>
          </a:ln>
        </p:spPr>
      </p:sp>
      <p:sp>
        <p:nvSpPr>
          <p:cNvPr id="20" name="text Next: PRN acquisition → carrier/cod">
            <a:extLst xmlns:a="http://schemas.openxmlformats.org/drawingml/2006/main">
              <a:ext uri="{FF2B5EF4-FFF2-40B4-BE49-F238E27FC236}">
                <a16:creationId xmlns:a16="http://schemas.microsoft.com/office/drawing/2014/main" id="{A9FE25EC-F967-422E-95EF-DDB0CE60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353050"/>
            <a:ext cx="10315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Next: PRN acquisition → carrier/code tracking → navigation solution</a:t>
            </a:r>
          </a:p>
        </p:txBody>
      </p:sp>
    </p:spTree>
    <p:extLst>
      <p:ext uri="{BB962C8B-B14F-4D97-AF65-F5344CB8AC3E}">
        <p14:creationId xmlns:p14="http://schemas.microsoft.com/office/powerpoint/2010/main" val="4749316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2026-10-26T19:53:27.2390000Z</dcterms:created>
  <dcterms:modified xsi:type="dcterms:W3CDTF">2026-10-26T19:53:27.2400000Z</dcterms:modified>
</coreProperties>
</file>